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0:00-0:55.,Hi, we are presenting our project, When Does Task Decomposition Help? The broad motivation is that decomposition sounds obviously useful for coding agents: ask the model to plan first, then code. But in practice it also costs more tokens and latency, and it can sometimes introduce extra mistakes. So our project treats decomposition as a routing problem rather than a universal prompting rule.,My focus was the HumanEval and BigCodeBench-Hard analysis. Xiaoyang focused on the SWE-Bench side of the project. In this deck I will explain the formalization, the model, the evaluation, and what we found about where decomposition actually beats a direct baseline.,The headline is: on HumanEval, decomposition helps a small but real subset of tasks, and a conservative router can capture that. On BCB-Hard, the direct baseline fails much more often, but decomposition only fixes a few of those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0:55-1:55.,The central problem is: given a coding task, should the system use the original direct prompt, or should it use a decomposition-style prompt? We formalize this as binary classification at the task level.,For each task, we extract a feature vector x. The label y is one only when decomposition passes and the baseline fails. If both pass, we treat the baseline as sufficient, because it is cheaper. That choice matters: we are not just asking which prompt can solve the task, we are asking whether decomposition adds enough value to justify using it.,Once we have probabilities from the classifier, the policy is simple: route to decomposition only when predicted benefit is above a threshold. Evaluation then compares that routed policy against two fixed policies: always use the direct baseline, or always use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1:55-2:55.,There are a few machine learning challenges that make this nontrivial. First, the positive class is rare. In HumanEval, only 10 of 164 tasks are decomposition-only wins. So a classifier can get high accuracy by almost never predicting the positive class. That is why we report AUPRC and routing outcomes, not accuracy alone.,Second, the features are proxies. Decomposability is not directly measured. We approximate it using task length, AST size, external calls, imports, and lexical hints of compositionality or independence.,Third, there are confounds. Difficulty and decomposability may be correlated, and code size may sometimes behave like a dataset or benchmark identity signal.,Finally, the data are small. That pushes us toward a tabular model and away from a high-capacity neural model as the primary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2:55-4:00.,Our experimental unit is a paired task. For each HumanEval task, we run the baseline prompt and the plan-then-code prompt. Then we compare their pass or fail outcomes under the benchmark tests.,The plan-then-code condition is not a separate agent architecture. It is a prompt appendix that asks the model to write a plan and then code. This keeps the intervention simple: the base model, task, and scoring harness stay the same, while the prompt strategy changes.,The label is positive only for a clean flip: baseline fails, decomposition passes. If both pass, that is not a decomposition win for our routing objective, because the direct prompt solved the task with lower overhead.,This paired setup gives us a fair downstream comparison. The classifier-routed policy chooses per task, and we compare its total success rate and estimated cost against always-baseline and always-decomposition on the same task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4:00-5:05.,Our primary model is XGBoost over nine task-level features. Five are difficulty or scale proxies: statement length, code length, AST node count, number of functions, and a cyclomatic complexity approximation. Four are structural proxies: imports, external calls, compositionality hints, and lexical independence hints.,This model matches the problem structure because our input is low-dimensional tabular data. XGBoost can capture nonlinear interactions, but it does not require the amount of data a transformer classifier would need. It also gives feature importances and supports ablation by feature group.,We considered a transformer approach, such as CodeBERT over the prompt and code context. That could capture richer semantics, but it is less interpretable and more data-hungry. Since our goal is not just prediction but understanding what properties predict decomposition benefit, the feature-based model is a better fit for the first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5:05-5:55.,We evaluate in two layers. The first layer is ordinary classification: AUROC, AUPRC, F1, and accuracy. AUROC tells us whether the model ranks decomposition-beneficial tasks above others. AUPRC is especially important because positives are rare.,The second layer is the more important one for this project: routing value. We ask whether the classifier-routed policy improves or preserves Pass@1 while decomposing fewer tasks. We compare against always-baseline and always-decomposition.,We also track estimated cost. In the checked-in evaluation, baseline cost is one and decomposition cost is two. That is a simple proxy for additional prompting and inference overhead. So a useful router should either improve success rate, reduce cost, or ideally do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5:55-7:05.,On HumanEval, the always-baseline strategy solves 85.98 percent of tasks, while always-decomposition solves 89.02 percent. So decomposition has a small net gain of about three percentage points.,The fitted XGBoost router reaches 92.07 percent success with an estimated cost of 1.06. It routes only 6.10 percent of tasks to decomposition. This suggests the value of decomposition is sparse: it is helpful sometimes, but not worth applying universally.,At the same time, the classification metrics are modest. AUROC is about 0.48 and AUPRC is about 0.076. That means we should be careful about overclaiming predictive quality. With only 10 positive HumanEval examples, the metric estimates are noisy.,The interpretation is: decomposition benefit is real on a subset of tasks, and routing can act as a cost-control mechanism, but the current features do not fully capture the underlying semantic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7:05-8:10.,We also looked at BigCodeBench-Hard as a harder stress test. Here the direct baseline mostly fails: 110 of 148 tasks fail, which is 74.3 percent. Plan-then-code fixes only eight of those failures, and 102 tasks fail under both strategies.,This is important because it prevents a simplistic conclusion that decomposition helps more as tasks get harder. In BCB-Hard, many failures are not just missing a step in the prompt. They involve exact library behavior, file or web I/O, plotting APIs, hidden-test expectations, and environment-sensitive details.,The main baseline failure categories are plotting and visualization, data wrangling or tables, general library/API use, and web or file I/O. Most failures are hidden mismatches rather than syntax errors.,So decomposition does not work as a general capability upgrade. It helps when the model was close and forgot a requirement, but it does not reliably solve tasks where the model lacks exact implementation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8:10-9:35.,This slide summarizes where the alternate approach, plan-then-code, succeeds compared with the baseline. Across HumanEval and BCB-Hard, we observed 18 total cases where decomposition flips a baseline failure into a pass: 10 in HumanEval and 8 in BCB-Hard.,The common pattern is not simply that the tasks are longer or harder. The structural feature effect sizes are small. Qualitatively, the wins are tasks with explicit edge cases, composite outputs, and multi-step pipelines. Examples include HumanEval tasks with fallback values, two-key sorting, rotations plus substring checks, or path constraints. In BCB-Hard, the wins include file-processing pipelines, subprocess monitoring, DataFrame construction, and forecast-plus-plot outputs.,The reason decomposition helps is that the plan phase externalizes the requirements. A direct baseline often jumps straight to code and misses one clause. Plan-then-code forces the model to enumerate branches before writing the solution, so it is more likely to preserve small but test-critical details.,The limitation is equally important. When the baseline fails because of exact API behavior or environment details, planning alone usually does not fix it. That is why selective routing is the best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unless asked.,If there is extra time during questions, use this as a concise future-work slide. The main extensions are repeated trials per task to reduce label noise, semantic features or embeddings, stronger decomposition variants such as self-debugging, and a fuller cross-benchmark generalization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but not presented.,This slide documents contribution split. Xiaoyang worked on the SWE-Bench side. Supriya worked on HumanEval and BCB-Hard analysis. Replace email placeholders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7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7FC"/>
          </a:solidFill>
          <a:ln w="12700">
            <a:solidFill>
              <a:srgbClr val="F3F7FC"/>
            </a:solidFill>
            <a:prstDash val="solid"/>
          </a:ln>
        </p:spPr>
      </p:sp>
      <p:sp>
        <p:nvSpPr>
          <p:cNvPr id="3" name="Shape 1"/>
          <p:cNvSpPr/>
          <p:nvPr/>
        </p:nvSpPr>
        <p:spPr>
          <a:xfrm>
            <a:off x="0" y="0"/>
            <a:ext cx="12191695" cy="219456"/>
          </a:xfrm>
          <a:prstGeom prst="rect">
            <a:avLst/>
          </a:prstGeom>
          <a:solidFill>
            <a:srgbClr val="2F6FED"/>
          </a:solidFill>
          <a:ln w="12700">
            <a:solidFill>
              <a:srgbClr val="2F6FED"/>
            </a:solidFill>
            <a:prstDash val="solid"/>
          </a:ln>
        </p:spPr>
      </p:sp>
      <p:sp>
        <p:nvSpPr>
          <p:cNvPr id="4" name="Text 2"/>
          <p:cNvSpPr/>
          <p:nvPr/>
        </p:nvSpPr>
        <p:spPr>
          <a:xfrm>
            <a:off x="658368" y="960120"/>
            <a:ext cx="9692640" cy="694944"/>
          </a:xfrm>
          <a:prstGeom prst="rect">
            <a:avLst/>
          </a:prstGeom>
          <a:noFill/>
          <a:ln/>
        </p:spPr>
        <p:txBody>
          <a:bodyPr wrap="square" lIns="0" tIns="0" rIns="0" bIns="0" rtlCol="0" anchor="ctr">
            <a:normAutofit/>
          </a:bodyPr>
          <a:lstStyle/>
          <a:p>
            <a:pPr indent="0" marL="0">
              <a:buNone/>
            </a:pPr>
            <a:r>
              <a:rPr lang="en-US" sz="3400" b="1" dirty="0">
                <a:solidFill>
                  <a:srgbClr val="16202A"/>
                </a:solidFill>
                <a:latin typeface="Aptos Display" pitchFamily="34" charset="0"/>
                <a:ea typeface="Aptos Display" pitchFamily="34" charset="-122"/>
                <a:cs typeface="Aptos Display" pitchFamily="34" charset="-120"/>
              </a:rPr>
              <a:t>When Does Task Decomposition Help?</a:t>
            </a:r>
            <a:endParaRPr lang="en-US" sz="3400" dirty="0"/>
          </a:p>
        </p:txBody>
      </p:sp>
      <p:sp>
        <p:nvSpPr>
          <p:cNvPr id="5" name="Text 3"/>
          <p:cNvSpPr/>
          <p:nvPr/>
        </p:nvSpPr>
        <p:spPr>
          <a:xfrm>
            <a:off x="685800" y="1764792"/>
            <a:ext cx="8869680" cy="310896"/>
          </a:xfrm>
          <a:prstGeom prst="rect">
            <a:avLst/>
          </a:prstGeom>
          <a:noFill/>
          <a:ln/>
        </p:spPr>
        <p:txBody>
          <a:bodyPr wrap="square" lIns="0" tIns="0" rIns="0" bIns="0" rtlCol="0" anchor="ctr"/>
          <a:lstStyle/>
          <a:p>
            <a:pPr indent="0" marL="0">
              <a:buNone/>
            </a:pPr>
            <a:r>
              <a:rPr lang="en-US" sz="1500" dirty="0">
                <a:solidFill>
                  <a:srgbClr val="243B53"/>
                </a:solidFill>
              </a:rPr>
              <a:t>Feature-based routing for plan-then-code prompting on HumanEval and BCB-Hard</a:t>
            </a:r>
            <a:endParaRPr lang="en-US" sz="1500" dirty="0"/>
          </a:p>
        </p:txBody>
      </p:sp>
      <p:sp>
        <p:nvSpPr>
          <p:cNvPr id="6" name="Shape 4"/>
          <p:cNvSpPr/>
          <p:nvPr/>
        </p:nvSpPr>
        <p:spPr>
          <a:xfrm>
            <a:off x="685800" y="2514600"/>
            <a:ext cx="5257800" cy="1325880"/>
          </a:xfrm>
          <a:prstGeom prst="roundRect">
            <a:avLst>
              <a:gd name="adj" fmla="val 5517"/>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Text 5"/>
          <p:cNvSpPr/>
          <p:nvPr/>
        </p:nvSpPr>
        <p:spPr>
          <a:xfrm>
            <a:off x="960120" y="2743200"/>
            <a:ext cx="1188720" cy="201168"/>
          </a:xfrm>
          <a:prstGeom prst="rect">
            <a:avLst/>
          </a:prstGeom>
          <a:noFill/>
          <a:ln/>
        </p:spPr>
        <p:txBody>
          <a:bodyPr wrap="square" lIns="0" tIns="0" rIns="0" bIns="0" rtlCol="0" anchor="ctr"/>
          <a:lstStyle/>
          <a:p>
            <a:pPr indent="0" marL="0">
              <a:buNone/>
            </a:pPr>
            <a:r>
              <a:rPr lang="en-US" sz="850" b="1" dirty="0">
                <a:solidFill>
                  <a:srgbClr val="18A7B5"/>
                </a:solidFill>
              </a:rPr>
              <a:t>TEAM</a:t>
            </a:r>
            <a:endParaRPr lang="en-US" sz="850" dirty="0"/>
          </a:p>
        </p:txBody>
      </p:sp>
      <p:sp>
        <p:nvSpPr>
          <p:cNvPr id="8" name="Text 6"/>
          <p:cNvSpPr/>
          <p:nvPr/>
        </p:nvSpPr>
        <p:spPr>
          <a:xfrm>
            <a:off x="960120" y="3063240"/>
            <a:ext cx="4480560" cy="530352"/>
          </a:xfrm>
          <a:prstGeom prst="rect">
            <a:avLst/>
          </a:prstGeom>
          <a:noFill/>
          <a:ln/>
        </p:spPr>
        <p:txBody>
          <a:bodyPr wrap="square" lIns="254" tIns="254" rIns="254" bIns="254" rtlCol="0" anchor="t">
            <a:normAutofit/>
          </a:bodyPr>
          <a:lstStyle/>
          <a:p>
            <a:pPr indent="0" marL="0">
              <a:buNone/>
            </a:pPr>
            <a:r>
              <a:rPr lang="en-US" sz="1400" dirty="0">
                <a:solidFill>
                  <a:srgbClr val="16202A"/>
                </a:solidFill>
              </a:rPr>
              <a:t>Xiaoyang Cao | [insert email]</a:t>
            </a:r>
            <a:endParaRPr lang="en-US" sz="1400" dirty="0"/>
          </a:p>
          <a:p>
            <a:pPr indent="0" marL="0">
              <a:buNone/>
            </a:pPr>
            <a:r>
              <a:rPr lang="en-US" sz="1400" dirty="0">
                <a:solidFill>
                  <a:srgbClr val="16202A"/>
                </a:solidFill>
              </a:rPr>
              <a:t>Supriya Lall | [insert email]</a:t>
            </a:r>
            <a:endParaRPr lang="en-US" sz="1400" dirty="0"/>
          </a:p>
        </p:txBody>
      </p:sp>
      <p:sp>
        <p:nvSpPr>
          <p:cNvPr id="9" name="Shape 7"/>
          <p:cNvSpPr/>
          <p:nvPr/>
        </p:nvSpPr>
        <p:spPr>
          <a:xfrm>
            <a:off x="6492240" y="2514600"/>
            <a:ext cx="4526280" cy="1325880"/>
          </a:xfrm>
          <a:prstGeom prst="roundRect">
            <a:avLst>
              <a:gd name="adj" fmla="val 5517"/>
            </a:avLst>
          </a:prstGeom>
          <a:solidFill>
            <a:srgbClr val="EAF2FF"/>
          </a:solidFill>
          <a:ln w="12700">
            <a:solidFill>
              <a:srgbClr val="C9DAFF"/>
            </a:solidFill>
            <a:prstDash val="solid"/>
          </a:ln>
        </p:spPr>
      </p:sp>
      <p:sp>
        <p:nvSpPr>
          <p:cNvPr id="10" name="Text 8"/>
          <p:cNvSpPr/>
          <p:nvPr/>
        </p:nvSpPr>
        <p:spPr>
          <a:xfrm>
            <a:off x="6766560" y="2743200"/>
            <a:ext cx="1371600" cy="201168"/>
          </a:xfrm>
          <a:prstGeom prst="rect">
            <a:avLst/>
          </a:prstGeom>
          <a:noFill/>
          <a:ln/>
        </p:spPr>
        <p:txBody>
          <a:bodyPr wrap="square" lIns="0" tIns="0" rIns="0" bIns="0" rtlCol="0" anchor="ctr"/>
          <a:lstStyle/>
          <a:p>
            <a:pPr indent="0" marL="0">
              <a:buNone/>
            </a:pPr>
            <a:r>
              <a:rPr lang="en-US" sz="850" b="1" dirty="0">
                <a:solidFill>
                  <a:srgbClr val="2F6FED"/>
                </a:solidFill>
              </a:rPr>
              <a:t>STUDY SCOPE</a:t>
            </a:r>
            <a:endParaRPr lang="en-US" sz="850" dirty="0"/>
          </a:p>
        </p:txBody>
      </p:sp>
      <p:sp>
        <p:nvSpPr>
          <p:cNvPr id="11" name="Text 9"/>
          <p:cNvSpPr/>
          <p:nvPr/>
        </p:nvSpPr>
        <p:spPr>
          <a:xfrm>
            <a:off x="6766560" y="3063240"/>
            <a:ext cx="3840480" cy="502920"/>
          </a:xfrm>
          <a:prstGeom prst="rect">
            <a:avLst/>
          </a:prstGeom>
          <a:noFill/>
          <a:ln/>
        </p:spPr>
        <p:txBody>
          <a:bodyPr wrap="square" lIns="254" tIns="254" rIns="254" bIns="254" rtlCol="0" anchor="t">
            <a:normAutofit/>
          </a:bodyPr>
          <a:lstStyle/>
          <a:p>
            <a:pPr indent="0" marL="0">
              <a:buNone/>
            </a:pPr>
            <a:r>
              <a:rPr lang="en-US" sz="1300" dirty="0">
                <a:solidFill>
                  <a:srgbClr val="16202A"/>
                </a:solidFill>
              </a:rPr>
              <a:t>HumanEval model routing</a:t>
            </a:r>
            <a:endParaRPr lang="en-US" sz="1300" dirty="0"/>
          </a:p>
          <a:p>
            <a:pPr indent="0" marL="0">
              <a:buNone/>
            </a:pPr>
            <a:r>
              <a:rPr lang="en-US" sz="1300" dirty="0">
                <a:solidFill>
                  <a:srgbClr val="16202A"/>
                </a:solidFill>
              </a:rPr>
              <a:t>BCB-Hard baseline failure audit</a:t>
            </a:r>
            <a:endParaRPr lang="en-US" sz="1300" dirty="0"/>
          </a:p>
        </p:txBody>
      </p:sp>
      <p:sp>
        <p:nvSpPr>
          <p:cNvPr id="12" name="Shape 10"/>
          <p:cNvSpPr/>
          <p:nvPr/>
        </p:nvSpPr>
        <p:spPr>
          <a:xfrm>
            <a:off x="685800" y="4709160"/>
            <a:ext cx="10515600" cy="0"/>
          </a:xfrm>
          <a:prstGeom prst="line">
            <a:avLst/>
          </a:prstGeom>
          <a:noFill/>
          <a:ln w="12700">
            <a:solidFill>
              <a:srgbClr val="D6DEE8"/>
            </a:solidFill>
            <a:prstDash val="solid"/>
          </a:ln>
        </p:spPr>
      </p:sp>
      <p:sp>
        <p:nvSpPr>
          <p:cNvPr id="13" name="Text 11"/>
          <p:cNvSpPr/>
          <p:nvPr/>
        </p:nvSpPr>
        <p:spPr>
          <a:xfrm>
            <a:off x="685800" y="5010912"/>
            <a:ext cx="2011680" cy="384048"/>
          </a:xfrm>
          <a:prstGeom prst="rect">
            <a:avLst/>
          </a:prstGeom>
          <a:noFill/>
          <a:ln/>
        </p:spPr>
        <p:txBody>
          <a:bodyPr wrap="square" lIns="0" tIns="0" rIns="0" bIns="0" rtlCol="0" anchor="ctr">
            <a:normAutofit/>
          </a:bodyPr>
          <a:lstStyle/>
          <a:p>
            <a:pPr indent="0" marL="0">
              <a:buNone/>
            </a:pPr>
            <a:r>
              <a:rPr lang="en-US" sz="2300" b="1" dirty="0">
                <a:solidFill>
                  <a:srgbClr val="2F6FED"/>
                </a:solidFill>
              </a:rPr>
              <a:t>164</a:t>
            </a:r>
            <a:endParaRPr lang="en-US" sz="2300" dirty="0"/>
          </a:p>
        </p:txBody>
      </p:sp>
      <p:sp>
        <p:nvSpPr>
          <p:cNvPr id="14" name="Text 12"/>
          <p:cNvSpPr/>
          <p:nvPr/>
        </p:nvSpPr>
        <p:spPr>
          <a:xfrm>
            <a:off x="685800" y="5468112"/>
            <a:ext cx="201168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HumanEval tasks</a:t>
            </a:r>
            <a:endParaRPr lang="en-US" sz="950" dirty="0"/>
          </a:p>
        </p:txBody>
      </p:sp>
      <p:sp>
        <p:nvSpPr>
          <p:cNvPr id="15" name="Text 13"/>
          <p:cNvSpPr/>
          <p:nvPr/>
        </p:nvSpPr>
        <p:spPr>
          <a:xfrm>
            <a:off x="2880360" y="5010912"/>
            <a:ext cx="2103120" cy="384048"/>
          </a:xfrm>
          <a:prstGeom prst="rect">
            <a:avLst/>
          </a:prstGeom>
          <a:noFill/>
          <a:ln/>
        </p:spPr>
        <p:txBody>
          <a:bodyPr wrap="square" lIns="0" tIns="0" rIns="0" bIns="0" rtlCol="0" anchor="ctr">
            <a:normAutofit/>
          </a:bodyPr>
          <a:lstStyle/>
          <a:p>
            <a:pPr indent="0" marL="0">
              <a:buNone/>
            </a:pPr>
            <a:r>
              <a:rPr lang="en-US" sz="2300" b="1" dirty="0">
                <a:solidFill>
                  <a:srgbClr val="18A7B5"/>
                </a:solidFill>
              </a:rPr>
              <a:t>9</a:t>
            </a:r>
            <a:endParaRPr lang="en-US" sz="2300" dirty="0"/>
          </a:p>
        </p:txBody>
      </p:sp>
      <p:sp>
        <p:nvSpPr>
          <p:cNvPr id="16" name="Text 14"/>
          <p:cNvSpPr/>
          <p:nvPr/>
        </p:nvSpPr>
        <p:spPr>
          <a:xfrm>
            <a:off x="2880360" y="5468112"/>
            <a:ext cx="210312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task-level features</a:t>
            </a:r>
            <a:endParaRPr lang="en-US" sz="950" dirty="0"/>
          </a:p>
        </p:txBody>
      </p:sp>
      <p:sp>
        <p:nvSpPr>
          <p:cNvPr id="17" name="Text 15"/>
          <p:cNvSpPr/>
          <p:nvPr/>
        </p:nvSpPr>
        <p:spPr>
          <a:xfrm>
            <a:off x="5166360" y="5010912"/>
            <a:ext cx="2286000" cy="384048"/>
          </a:xfrm>
          <a:prstGeom prst="rect">
            <a:avLst/>
          </a:prstGeom>
          <a:noFill/>
          <a:ln/>
        </p:spPr>
        <p:txBody>
          <a:bodyPr wrap="square" lIns="0" tIns="0" rIns="0" bIns="0" rtlCol="0" anchor="ctr">
            <a:normAutofit/>
          </a:bodyPr>
          <a:lstStyle/>
          <a:p>
            <a:pPr indent="0" marL="0">
              <a:buNone/>
            </a:pPr>
            <a:r>
              <a:rPr lang="en-US" sz="2300" b="1" dirty="0">
                <a:solidFill>
                  <a:srgbClr val="36A269"/>
                </a:solidFill>
              </a:rPr>
              <a:t>10</a:t>
            </a:r>
            <a:endParaRPr lang="en-US" sz="2300" dirty="0"/>
          </a:p>
        </p:txBody>
      </p:sp>
      <p:sp>
        <p:nvSpPr>
          <p:cNvPr id="18" name="Text 16"/>
          <p:cNvSpPr/>
          <p:nvPr/>
        </p:nvSpPr>
        <p:spPr>
          <a:xfrm>
            <a:off x="5166360" y="5468112"/>
            <a:ext cx="228600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decomposition-only wins</a:t>
            </a:r>
            <a:endParaRPr lang="en-US" sz="950" dirty="0"/>
          </a:p>
        </p:txBody>
      </p:sp>
      <p:sp>
        <p:nvSpPr>
          <p:cNvPr id="19" name="Text 17"/>
          <p:cNvSpPr/>
          <p:nvPr/>
        </p:nvSpPr>
        <p:spPr>
          <a:xfrm>
            <a:off x="7635240" y="5010912"/>
            <a:ext cx="2286000" cy="384048"/>
          </a:xfrm>
          <a:prstGeom prst="rect">
            <a:avLst/>
          </a:prstGeom>
          <a:noFill/>
          <a:ln/>
        </p:spPr>
        <p:txBody>
          <a:bodyPr wrap="square" lIns="0" tIns="0" rIns="0" bIns="0" rtlCol="0" anchor="ctr">
            <a:normAutofit/>
          </a:bodyPr>
          <a:lstStyle/>
          <a:p>
            <a:pPr indent="0" marL="0">
              <a:buNone/>
            </a:pPr>
            <a:r>
              <a:rPr lang="en-US" sz="2300" b="1" dirty="0">
                <a:solidFill>
                  <a:srgbClr val="6E57D2"/>
                </a:solidFill>
              </a:rPr>
              <a:t>110</a:t>
            </a:r>
            <a:endParaRPr lang="en-US" sz="2300" dirty="0"/>
          </a:p>
        </p:txBody>
      </p:sp>
      <p:sp>
        <p:nvSpPr>
          <p:cNvPr id="20" name="Text 18"/>
          <p:cNvSpPr/>
          <p:nvPr/>
        </p:nvSpPr>
        <p:spPr>
          <a:xfrm>
            <a:off x="7635240" y="5468112"/>
            <a:ext cx="228600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BCB baseline failures</a:t>
            </a:r>
            <a:endParaRPr lang="en-US" sz="950" dirty="0"/>
          </a:p>
        </p:txBody>
      </p:sp>
      <p:sp>
        <p:nvSpPr>
          <p:cNvPr id="21" name="Text 19"/>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22" name="Text 20"/>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PROBLEM AND FORMALIZATION</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When should an LLM decompose a coding task?</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HumanEval decomposition routing</a:t>
            </a:r>
            <a:endParaRPr lang="en-US" sz="850" dirty="0"/>
          </a:p>
        </p:txBody>
      </p:sp>
      <p:sp>
        <p:nvSpPr>
          <p:cNvPr id="6" name="Shape 4"/>
          <p:cNvSpPr/>
          <p:nvPr/>
        </p:nvSpPr>
        <p:spPr>
          <a:xfrm>
            <a:off x="685800" y="1463040"/>
            <a:ext cx="3749040" cy="4206240"/>
          </a:xfrm>
          <a:prstGeom prst="roundRect">
            <a:avLst>
              <a:gd name="adj" fmla="val 1951"/>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Text 5"/>
          <p:cNvSpPr/>
          <p:nvPr/>
        </p:nvSpPr>
        <p:spPr>
          <a:xfrm>
            <a:off x="960120" y="1737360"/>
            <a:ext cx="1097280" cy="201168"/>
          </a:xfrm>
          <a:prstGeom prst="rect">
            <a:avLst/>
          </a:prstGeom>
          <a:noFill/>
          <a:ln/>
        </p:spPr>
        <p:txBody>
          <a:bodyPr wrap="square" lIns="0" tIns="0" rIns="0" bIns="0" rtlCol="0" anchor="ctr"/>
          <a:lstStyle/>
          <a:p>
            <a:pPr indent="0" marL="0">
              <a:buNone/>
            </a:pPr>
            <a:r>
              <a:rPr lang="en-US" sz="850" b="1" dirty="0">
                <a:solidFill>
                  <a:srgbClr val="2F6FED"/>
                </a:solidFill>
              </a:rPr>
              <a:t>DECISION</a:t>
            </a:r>
            <a:endParaRPr lang="en-US" sz="850" dirty="0"/>
          </a:p>
        </p:txBody>
      </p:sp>
      <p:sp>
        <p:nvSpPr>
          <p:cNvPr id="8" name="Text 6"/>
          <p:cNvSpPr/>
          <p:nvPr/>
        </p:nvSpPr>
        <p:spPr>
          <a:xfrm>
            <a:off x="960120" y="2084832"/>
            <a:ext cx="3154680" cy="685800"/>
          </a:xfrm>
          <a:prstGeom prst="rect">
            <a:avLst/>
          </a:prstGeom>
          <a:noFill/>
          <a:ln/>
        </p:spPr>
        <p:txBody>
          <a:bodyPr wrap="square" lIns="254" tIns="254" rIns="254" bIns="254" rtlCol="0" anchor="t">
            <a:normAutofit/>
          </a:bodyPr>
          <a:lstStyle/>
          <a:p>
            <a:pPr indent="0" marL="0">
              <a:buNone/>
            </a:pPr>
            <a:r>
              <a:rPr lang="en-US" sz="1350" dirty="0">
                <a:solidFill>
                  <a:srgbClr val="16202A"/>
                </a:solidFill>
              </a:rPr>
              <a:t>For each task, choose either the direct baseline prompt or a decomposition prompt before running the model.</a:t>
            </a:r>
            <a:endParaRPr lang="en-US" sz="1350" dirty="0"/>
          </a:p>
        </p:txBody>
      </p:sp>
      <p:sp>
        <p:nvSpPr>
          <p:cNvPr id="9" name="Shape 7"/>
          <p:cNvSpPr/>
          <p:nvPr/>
        </p:nvSpPr>
        <p:spPr>
          <a:xfrm>
            <a:off x="1097280" y="3200400"/>
            <a:ext cx="2834640" cy="0"/>
          </a:xfrm>
          <a:prstGeom prst="line">
            <a:avLst/>
          </a:prstGeom>
          <a:noFill/>
          <a:ln w="12700">
            <a:solidFill>
              <a:srgbClr val="D6DEE8"/>
            </a:solidFill>
            <a:prstDash val="solid"/>
          </a:ln>
        </p:spPr>
      </p:sp>
      <p:sp>
        <p:nvSpPr>
          <p:cNvPr id="10" name="Text 8"/>
          <p:cNvSpPr/>
          <p:nvPr/>
        </p:nvSpPr>
        <p:spPr>
          <a:xfrm>
            <a:off x="960120" y="3520440"/>
            <a:ext cx="3200400" cy="1051560"/>
          </a:xfrm>
          <a:prstGeom prst="rect">
            <a:avLst/>
          </a:prstGeom>
          <a:noFill/>
          <a:ln/>
        </p:spPr>
        <p:txBody>
          <a:bodyPr wrap="square" lIns="254" tIns="254" rIns="254" bIns="254" rtlCol="0" anchor="t">
            <a:normAutofit/>
          </a:bodyPr>
          <a:lstStyle/>
          <a:p>
            <a:pPr indent="0" marL="0">
              <a:buNone/>
            </a:pPr>
            <a:r>
              <a:rPr lang="en-US" sz="1260" dirty="0">
                <a:solidFill>
                  <a:srgbClr val="16202A"/>
                </a:solidFill>
              </a:rPr>
              <a:t>Input: task-level structural features x</a:t>
            </a:r>
            <a:endParaRPr lang="en-US" sz="1260" dirty="0"/>
          </a:p>
          <a:p>
            <a:pPr indent="0" marL="0">
              <a:buNone/>
            </a:pPr>
            <a:r>
              <a:rPr lang="en-US" sz="1260" dirty="0">
                <a:solidFill>
                  <a:srgbClr val="16202A"/>
                </a:solidFill>
              </a:rPr>
              <a:t>Label: y = 1 iff decomposition passes and baseline fails</a:t>
            </a:r>
            <a:endParaRPr lang="en-US" sz="1260" dirty="0"/>
          </a:p>
          <a:p>
            <a:pPr indent="0" marL="0">
              <a:buNone/>
            </a:pPr>
            <a:r>
              <a:rPr lang="en-US" sz="1260" dirty="0">
                <a:solidFill>
                  <a:srgbClr val="16202A"/>
                </a:solidFill>
              </a:rPr>
              <a:t>Policy: route to decomposition when P(y=1 | x) &gt;= threshold</a:t>
            </a:r>
            <a:endParaRPr lang="en-US" sz="1260" dirty="0"/>
          </a:p>
        </p:txBody>
      </p:sp>
      <p:sp>
        <p:nvSpPr>
          <p:cNvPr id="11" name="Shape 9"/>
          <p:cNvSpPr/>
          <p:nvPr/>
        </p:nvSpPr>
        <p:spPr>
          <a:xfrm>
            <a:off x="4892040" y="1463040"/>
            <a:ext cx="6355080" cy="4206240"/>
          </a:xfrm>
          <a:prstGeom prst="roundRect">
            <a:avLst>
              <a:gd name="adj" fmla="val 1739"/>
            </a:avLst>
          </a:prstGeom>
          <a:solidFill>
            <a:srgbClr val="FDFEFE"/>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2" name="Text 10"/>
          <p:cNvSpPr/>
          <p:nvPr/>
        </p:nvSpPr>
        <p:spPr>
          <a:xfrm>
            <a:off x="5166360" y="1737360"/>
            <a:ext cx="1645920" cy="201168"/>
          </a:xfrm>
          <a:prstGeom prst="rect">
            <a:avLst/>
          </a:prstGeom>
          <a:noFill/>
          <a:ln/>
        </p:spPr>
        <p:txBody>
          <a:bodyPr wrap="square" lIns="0" tIns="0" rIns="0" bIns="0" rtlCol="0" anchor="ctr"/>
          <a:lstStyle/>
          <a:p>
            <a:pPr indent="0" marL="0">
              <a:buNone/>
            </a:pPr>
            <a:r>
              <a:rPr lang="en-US" sz="850" b="1" dirty="0">
                <a:solidFill>
                  <a:srgbClr val="18A7B5"/>
                </a:solidFill>
              </a:rPr>
              <a:t>FORMALIZATION</a:t>
            </a:r>
            <a:endParaRPr lang="en-US" sz="8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166360" y="2121408"/>
          <a:ext cx="5577840" cy="2514600"/>
        </p:xfrm>
        <a:graphic>
          <a:graphicData uri="http://schemas.openxmlformats.org/drawingml/2006/table">
            <a:tbl>
              <a:tblPr/>
              <a:tblGrid>
                <a:gridCol w="2788920"/>
                <a:gridCol w="2788920"/>
              </a:tblGrid>
              <a:tr h="502920">
                <a:tc>
                  <a:txBody>
                    <a:bodyPr/>
                    <a:lstStyle/>
                    <a:p>
                      <a:pPr indent="0" marL="0">
                        <a:buNone/>
                      </a:pPr>
                      <a:r>
                        <a:rPr lang="en-US" sz="950" b="1" dirty="0">
                          <a:solidFill>
                            <a:srgbClr val="FFFFFF"/>
                          </a:solidFill>
                        </a:rPr>
                        <a:t>Task</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c>
                  <a:txBody>
                    <a:bodyPr/>
                    <a:lstStyle/>
                    <a:p>
                      <a:pPr indent="0" marL="0">
                        <a:buNone/>
                      </a:pPr>
                      <a:r>
                        <a:rPr lang="en-US" sz="950" b="1" dirty="0">
                          <a:solidFill>
                            <a:srgbClr val="FFFFFF"/>
                          </a:solidFill>
                        </a:rPr>
                        <a:t>HumanEval prompt</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r>
              <a:tr h="502920">
                <a:tc>
                  <a:txBody>
                    <a:bodyPr/>
                    <a:lstStyle/>
                    <a:p>
                      <a:pPr indent="0" marL="0">
                        <a:buNone/>
                      </a:pPr>
                      <a:r>
                        <a:rPr lang="en-US" sz="1000" dirty="0">
                          <a:solidFill>
                            <a:srgbClr val="16202A"/>
                          </a:solidFill>
                        </a:rPr>
                        <a:t>Features</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size, AST, coupling, lexical decomposability</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6202A"/>
                          </a:solidFill>
                        </a:rPr>
                        <a:t>Classifier</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XGBoost predicts decomposition benefit</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6202A"/>
                          </a:solidFill>
                        </a:rPr>
                        <a:t>Routing</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baseline unless predicted benefit is high</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6202A"/>
                          </a:solidFill>
                        </a:rPr>
                        <a:t>Outcome</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Pass@1 and estimated prompt cost</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bl>
          </a:graphicData>
        </a:graphic>
      </p:graphicFrame>
      <p:sp>
        <p:nvSpPr>
          <p:cNvPr id="14" name="Shape 11"/>
          <p:cNvSpPr/>
          <p:nvPr/>
        </p:nvSpPr>
        <p:spPr>
          <a:xfrm>
            <a:off x="5166360" y="5010912"/>
            <a:ext cx="2148840" cy="256032"/>
          </a:xfrm>
          <a:prstGeom prst="roundRect">
            <a:avLst>
              <a:gd name="adj" fmla="val 28571"/>
            </a:avLst>
          </a:prstGeom>
          <a:solidFill>
            <a:srgbClr val="2F6FED"/>
          </a:solidFill>
          <a:ln w="12700">
            <a:solidFill>
              <a:srgbClr val="2F6FED"/>
            </a:solidFill>
            <a:prstDash val="solid"/>
          </a:ln>
        </p:spPr>
      </p:sp>
      <p:sp>
        <p:nvSpPr>
          <p:cNvPr id="15" name="Text 12"/>
          <p:cNvSpPr/>
          <p:nvPr/>
        </p:nvSpPr>
        <p:spPr>
          <a:xfrm>
            <a:off x="5166360" y="5052060"/>
            <a:ext cx="2148840" cy="1188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Binary classification over tasks</a:t>
            </a:r>
            <a:endParaRPr lang="en-US" sz="780" dirty="0"/>
          </a:p>
        </p:txBody>
      </p:sp>
      <p:sp>
        <p:nvSpPr>
          <p:cNvPr id="16" name="Shape 13"/>
          <p:cNvSpPr/>
          <p:nvPr/>
        </p:nvSpPr>
        <p:spPr>
          <a:xfrm>
            <a:off x="7543800" y="5010912"/>
            <a:ext cx="1417320" cy="256032"/>
          </a:xfrm>
          <a:prstGeom prst="roundRect">
            <a:avLst>
              <a:gd name="adj" fmla="val 28571"/>
            </a:avLst>
          </a:prstGeom>
          <a:solidFill>
            <a:srgbClr val="18A7B5"/>
          </a:solidFill>
          <a:ln w="12700">
            <a:solidFill>
              <a:srgbClr val="18A7B5"/>
            </a:solidFill>
            <a:prstDash val="solid"/>
          </a:ln>
        </p:spPr>
      </p:sp>
      <p:sp>
        <p:nvSpPr>
          <p:cNvPr id="17" name="Text 14"/>
          <p:cNvSpPr/>
          <p:nvPr/>
        </p:nvSpPr>
        <p:spPr>
          <a:xfrm>
            <a:off x="7543800" y="5052060"/>
            <a:ext cx="1417320" cy="1188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Routing policy</a:t>
            </a:r>
            <a:endParaRPr lang="en-US" sz="780" dirty="0"/>
          </a:p>
        </p:txBody>
      </p:sp>
      <p:sp>
        <p:nvSpPr>
          <p:cNvPr id="18" name="Shape 15"/>
          <p:cNvSpPr/>
          <p:nvPr/>
        </p:nvSpPr>
        <p:spPr>
          <a:xfrm>
            <a:off x="9189720" y="5010912"/>
            <a:ext cx="1554480" cy="256032"/>
          </a:xfrm>
          <a:prstGeom prst="roundRect">
            <a:avLst>
              <a:gd name="adj" fmla="val 28571"/>
            </a:avLst>
          </a:prstGeom>
          <a:solidFill>
            <a:srgbClr val="36A269"/>
          </a:solidFill>
          <a:ln w="12700">
            <a:solidFill>
              <a:srgbClr val="36A269"/>
            </a:solidFill>
            <a:prstDash val="solid"/>
          </a:ln>
        </p:spPr>
      </p:sp>
      <p:sp>
        <p:nvSpPr>
          <p:cNvPr id="19" name="Text 16"/>
          <p:cNvSpPr/>
          <p:nvPr/>
        </p:nvSpPr>
        <p:spPr>
          <a:xfrm>
            <a:off x="9189720" y="5052060"/>
            <a:ext cx="1554480" cy="1188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Cost-aware evaluation</a:t>
            </a:r>
            <a:endParaRPr lang="en-US" sz="780" dirty="0"/>
          </a:p>
        </p:txBody>
      </p:sp>
      <p:sp>
        <p:nvSpPr>
          <p:cNvPr id="20" name="Text 17"/>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21" name="Text 18"/>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ML CHALLENGES</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The target is rare, noisy, and structurally indirect</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HumanEval decomposition routing</a:t>
            </a:r>
            <a:endParaRPr lang="en-US" sz="850" dirty="0"/>
          </a:p>
        </p:txBody>
      </p:sp>
      <p:sp>
        <p:nvSpPr>
          <p:cNvPr id="6" name="Shape 4"/>
          <p:cNvSpPr/>
          <p:nvPr/>
        </p:nvSpPr>
        <p:spPr>
          <a:xfrm>
            <a:off x="685800" y="1508760"/>
            <a:ext cx="4800600" cy="1508760"/>
          </a:xfrm>
          <a:prstGeom prst="roundRect">
            <a:avLst>
              <a:gd name="adj" fmla="val 4848"/>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Text 5"/>
          <p:cNvSpPr/>
          <p:nvPr/>
        </p:nvSpPr>
        <p:spPr>
          <a:xfrm>
            <a:off x="941832" y="1764792"/>
            <a:ext cx="502920" cy="256032"/>
          </a:xfrm>
          <a:prstGeom prst="rect">
            <a:avLst/>
          </a:prstGeom>
          <a:noFill/>
          <a:ln/>
        </p:spPr>
        <p:txBody>
          <a:bodyPr wrap="square" lIns="0" tIns="0" rIns="0" bIns="0" rtlCol="0" anchor="ctr"/>
          <a:lstStyle/>
          <a:p>
            <a:pPr indent="0" marL="0">
              <a:buNone/>
            </a:pPr>
            <a:r>
              <a:rPr lang="en-US" sz="1300" b="1" dirty="0">
                <a:solidFill>
                  <a:srgbClr val="D9534F"/>
                </a:solidFill>
              </a:rPr>
              <a:t>01</a:t>
            </a:r>
            <a:endParaRPr lang="en-US" sz="1300" dirty="0"/>
          </a:p>
        </p:txBody>
      </p:sp>
      <p:sp>
        <p:nvSpPr>
          <p:cNvPr id="8" name="Text 6"/>
          <p:cNvSpPr/>
          <p:nvPr/>
        </p:nvSpPr>
        <p:spPr>
          <a:xfrm>
            <a:off x="1600200" y="1746504"/>
            <a:ext cx="3383280" cy="256032"/>
          </a:xfrm>
          <a:prstGeom prst="rect">
            <a:avLst/>
          </a:prstGeom>
          <a:noFill/>
          <a:ln/>
        </p:spPr>
        <p:txBody>
          <a:bodyPr wrap="square" lIns="0" tIns="0" rIns="0" bIns="0" rtlCol="0" anchor="ctr"/>
          <a:lstStyle/>
          <a:p>
            <a:pPr indent="0" marL="0">
              <a:buNone/>
            </a:pPr>
            <a:r>
              <a:rPr lang="en-US" sz="1500" b="1" dirty="0">
                <a:solidFill>
                  <a:srgbClr val="16202A"/>
                </a:solidFill>
              </a:rPr>
              <a:t>Rare positives</a:t>
            </a:r>
            <a:endParaRPr lang="en-US" sz="1500" dirty="0"/>
          </a:p>
        </p:txBody>
      </p:sp>
      <p:sp>
        <p:nvSpPr>
          <p:cNvPr id="9" name="Text 7"/>
          <p:cNvSpPr/>
          <p:nvPr/>
        </p:nvSpPr>
        <p:spPr>
          <a:xfrm>
            <a:off x="1600200" y="2130552"/>
            <a:ext cx="3520440" cy="566928"/>
          </a:xfrm>
          <a:prstGeom prst="rect">
            <a:avLst/>
          </a:prstGeom>
          <a:noFill/>
          <a:ln/>
        </p:spPr>
        <p:txBody>
          <a:bodyPr wrap="square" lIns="254" tIns="254" rIns="254" bIns="254" rtlCol="0" anchor="t">
            <a:normAutofit/>
          </a:bodyPr>
          <a:lstStyle/>
          <a:p>
            <a:pPr indent="0" marL="0">
              <a:buNone/>
            </a:pPr>
            <a:r>
              <a:rPr lang="en-US" sz="1150" dirty="0">
                <a:solidFill>
                  <a:srgbClr val="243B53"/>
                </a:solidFill>
              </a:rPr>
              <a:t>Only 10 of 164 tasks are decomposition-only wins, so accuracy can look good even for weak classifiers.</a:t>
            </a:r>
            <a:endParaRPr lang="en-US" sz="1150" dirty="0"/>
          </a:p>
        </p:txBody>
      </p:sp>
      <p:sp>
        <p:nvSpPr>
          <p:cNvPr id="10" name="Shape 8"/>
          <p:cNvSpPr/>
          <p:nvPr/>
        </p:nvSpPr>
        <p:spPr>
          <a:xfrm>
            <a:off x="6126480" y="1508760"/>
            <a:ext cx="4800600" cy="1508760"/>
          </a:xfrm>
          <a:prstGeom prst="roundRect">
            <a:avLst>
              <a:gd name="adj" fmla="val 4848"/>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1" name="Text 9"/>
          <p:cNvSpPr/>
          <p:nvPr/>
        </p:nvSpPr>
        <p:spPr>
          <a:xfrm>
            <a:off x="6382512" y="1764792"/>
            <a:ext cx="502920" cy="256032"/>
          </a:xfrm>
          <a:prstGeom prst="rect">
            <a:avLst/>
          </a:prstGeom>
          <a:noFill/>
          <a:ln/>
        </p:spPr>
        <p:txBody>
          <a:bodyPr wrap="square" lIns="0" tIns="0" rIns="0" bIns="0" rtlCol="0" anchor="ctr"/>
          <a:lstStyle/>
          <a:p>
            <a:pPr indent="0" marL="0">
              <a:buNone/>
            </a:pPr>
            <a:r>
              <a:rPr lang="en-US" sz="1300" b="1" dirty="0">
                <a:solidFill>
                  <a:srgbClr val="2F6FED"/>
                </a:solidFill>
              </a:rPr>
              <a:t>02</a:t>
            </a:r>
            <a:endParaRPr lang="en-US" sz="1300" dirty="0"/>
          </a:p>
        </p:txBody>
      </p:sp>
      <p:sp>
        <p:nvSpPr>
          <p:cNvPr id="12" name="Text 10"/>
          <p:cNvSpPr/>
          <p:nvPr/>
        </p:nvSpPr>
        <p:spPr>
          <a:xfrm>
            <a:off x="7040880" y="1746504"/>
            <a:ext cx="3383280" cy="256032"/>
          </a:xfrm>
          <a:prstGeom prst="rect">
            <a:avLst/>
          </a:prstGeom>
          <a:noFill/>
          <a:ln/>
        </p:spPr>
        <p:txBody>
          <a:bodyPr wrap="square" lIns="0" tIns="0" rIns="0" bIns="0" rtlCol="0" anchor="ctr"/>
          <a:lstStyle/>
          <a:p>
            <a:pPr indent="0" marL="0">
              <a:buNone/>
            </a:pPr>
            <a:r>
              <a:rPr lang="en-US" sz="1500" b="1" dirty="0">
                <a:solidFill>
                  <a:srgbClr val="16202A"/>
                </a:solidFill>
              </a:rPr>
              <a:t>Proxy features</a:t>
            </a:r>
            <a:endParaRPr lang="en-US" sz="1500" dirty="0"/>
          </a:p>
        </p:txBody>
      </p:sp>
      <p:sp>
        <p:nvSpPr>
          <p:cNvPr id="13" name="Text 11"/>
          <p:cNvSpPr/>
          <p:nvPr/>
        </p:nvSpPr>
        <p:spPr>
          <a:xfrm>
            <a:off x="7040880" y="2130552"/>
            <a:ext cx="3520440" cy="566928"/>
          </a:xfrm>
          <a:prstGeom prst="rect">
            <a:avLst/>
          </a:prstGeom>
          <a:noFill/>
          <a:ln/>
        </p:spPr>
        <p:txBody>
          <a:bodyPr wrap="square" lIns="254" tIns="254" rIns="254" bIns="254" rtlCol="0" anchor="t">
            <a:normAutofit/>
          </a:bodyPr>
          <a:lstStyle/>
          <a:p>
            <a:pPr indent="0" marL="0">
              <a:buNone/>
            </a:pPr>
            <a:r>
              <a:rPr lang="en-US" sz="1150" dirty="0">
                <a:solidFill>
                  <a:srgbClr val="243B53"/>
                </a:solidFill>
              </a:rPr>
              <a:t>Concepts like subtask independence are not directly observable; we approximate them with static and lexical features.</a:t>
            </a:r>
            <a:endParaRPr lang="en-US" sz="1150" dirty="0"/>
          </a:p>
        </p:txBody>
      </p:sp>
      <p:sp>
        <p:nvSpPr>
          <p:cNvPr id="14" name="Shape 12"/>
          <p:cNvSpPr/>
          <p:nvPr/>
        </p:nvSpPr>
        <p:spPr>
          <a:xfrm>
            <a:off x="685800" y="3794760"/>
            <a:ext cx="4800600" cy="1508760"/>
          </a:xfrm>
          <a:prstGeom prst="roundRect">
            <a:avLst>
              <a:gd name="adj" fmla="val 4848"/>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5" name="Text 13"/>
          <p:cNvSpPr/>
          <p:nvPr/>
        </p:nvSpPr>
        <p:spPr>
          <a:xfrm>
            <a:off x="941832" y="4050792"/>
            <a:ext cx="502920" cy="256032"/>
          </a:xfrm>
          <a:prstGeom prst="rect">
            <a:avLst/>
          </a:prstGeom>
          <a:noFill/>
          <a:ln/>
        </p:spPr>
        <p:txBody>
          <a:bodyPr wrap="square" lIns="0" tIns="0" rIns="0" bIns="0" rtlCol="0" anchor="ctr"/>
          <a:lstStyle/>
          <a:p>
            <a:pPr indent="0" marL="0">
              <a:buNone/>
            </a:pPr>
            <a:r>
              <a:rPr lang="en-US" sz="1300" b="1" dirty="0">
                <a:solidFill>
                  <a:srgbClr val="2F6FED"/>
                </a:solidFill>
              </a:rPr>
              <a:t>03</a:t>
            </a:r>
            <a:endParaRPr lang="en-US" sz="1300" dirty="0"/>
          </a:p>
        </p:txBody>
      </p:sp>
      <p:sp>
        <p:nvSpPr>
          <p:cNvPr id="16" name="Text 14"/>
          <p:cNvSpPr/>
          <p:nvPr/>
        </p:nvSpPr>
        <p:spPr>
          <a:xfrm>
            <a:off x="1600200" y="4032504"/>
            <a:ext cx="3383280" cy="256032"/>
          </a:xfrm>
          <a:prstGeom prst="rect">
            <a:avLst/>
          </a:prstGeom>
          <a:noFill/>
          <a:ln/>
        </p:spPr>
        <p:txBody>
          <a:bodyPr wrap="square" lIns="0" tIns="0" rIns="0" bIns="0" rtlCol="0" anchor="ctr"/>
          <a:lstStyle/>
          <a:p>
            <a:pPr indent="0" marL="0">
              <a:buNone/>
            </a:pPr>
            <a:r>
              <a:rPr lang="en-US" sz="1500" b="1" dirty="0">
                <a:solidFill>
                  <a:srgbClr val="16202A"/>
                </a:solidFill>
              </a:rPr>
              <a:t>Confounding</a:t>
            </a:r>
            <a:endParaRPr lang="en-US" sz="1500" dirty="0"/>
          </a:p>
        </p:txBody>
      </p:sp>
      <p:sp>
        <p:nvSpPr>
          <p:cNvPr id="17" name="Text 15"/>
          <p:cNvSpPr/>
          <p:nvPr/>
        </p:nvSpPr>
        <p:spPr>
          <a:xfrm>
            <a:off x="1600200" y="4416552"/>
            <a:ext cx="3520440" cy="566928"/>
          </a:xfrm>
          <a:prstGeom prst="rect">
            <a:avLst/>
          </a:prstGeom>
          <a:noFill/>
          <a:ln/>
        </p:spPr>
        <p:txBody>
          <a:bodyPr wrap="square" lIns="254" tIns="254" rIns="254" bIns="254" rtlCol="0" anchor="t">
            <a:normAutofit/>
          </a:bodyPr>
          <a:lstStyle/>
          <a:p>
            <a:pPr indent="0" marL="0">
              <a:buNone/>
            </a:pPr>
            <a:r>
              <a:rPr lang="en-US" sz="1150" dirty="0">
                <a:solidFill>
                  <a:srgbClr val="243B53"/>
                </a:solidFill>
              </a:rPr>
              <a:t>Difficulty, code size, and decomposability can move together, making causal interpretation difficult.</a:t>
            </a:r>
            <a:endParaRPr lang="en-US" sz="1150" dirty="0"/>
          </a:p>
        </p:txBody>
      </p:sp>
      <p:sp>
        <p:nvSpPr>
          <p:cNvPr id="18" name="Shape 16"/>
          <p:cNvSpPr/>
          <p:nvPr/>
        </p:nvSpPr>
        <p:spPr>
          <a:xfrm>
            <a:off x="6126480" y="3794760"/>
            <a:ext cx="4800600" cy="1508760"/>
          </a:xfrm>
          <a:prstGeom prst="roundRect">
            <a:avLst>
              <a:gd name="adj" fmla="val 4848"/>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9" name="Text 17"/>
          <p:cNvSpPr/>
          <p:nvPr/>
        </p:nvSpPr>
        <p:spPr>
          <a:xfrm>
            <a:off x="6382512" y="4050792"/>
            <a:ext cx="502920" cy="256032"/>
          </a:xfrm>
          <a:prstGeom prst="rect">
            <a:avLst/>
          </a:prstGeom>
          <a:noFill/>
          <a:ln/>
        </p:spPr>
        <p:txBody>
          <a:bodyPr wrap="square" lIns="0" tIns="0" rIns="0" bIns="0" rtlCol="0" anchor="ctr"/>
          <a:lstStyle/>
          <a:p>
            <a:pPr indent="0" marL="0">
              <a:buNone/>
            </a:pPr>
            <a:r>
              <a:rPr lang="en-US" sz="1300" b="1" dirty="0">
                <a:solidFill>
                  <a:srgbClr val="2F6FED"/>
                </a:solidFill>
              </a:rPr>
              <a:t>04</a:t>
            </a:r>
            <a:endParaRPr lang="en-US" sz="1300" dirty="0"/>
          </a:p>
        </p:txBody>
      </p:sp>
      <p:sp>
        <p:nvSpPr>
          <p:cNvPr id="20" name="Text 18"/>
          <p:cNvSpPr/>
          <p:nvPr/>
        </p:nvSpPr>
        <p:spPr>
          <a:xfrm>
            <a:off x="7040880" y="4032504"/>
            <a:ext cx="3383280" cy="256032"/>
          </a:xfrm>
          <a:prstGeom prst="rect">
            <a:avLst/>
          </a:prstGeom>
          <a:noFill/>
          <a:ln/>
        </p:spPr>
        <p:txBody>
          <a:bodyPr wrap="square" lIns="0" tIns="0" rIns="0" bIns="0" rtlCol="0" anchor="ctr"/>
          <a:lstStyle/>
          <a:p>
            <a:pPr indent="0" marL="0">
              <a:buNone/>
            </a:pPr>
            <a:r>
              <a:rPr lang="en-US" sz="1500" b="1" dirty="0">
                <a:solidFill>
                  <a:srgbClr val="16202A"/>
                </a:solidFill>
              </a:rPr>
              <a:t>Small data</a:t>
            </a:r>
            <a:endParaRPr lang="en-US" sz="1500" dirty="0"/>
          </a:p>
        </p:txBody>
      </p:sp>
      <p:sp>
        <p:nvSpPr>
          <p:cNvPr id="21" name="Text 19"/>
          <p:cNvSpPr/>
          <p:nvPr/>
        </p:nvSpPr>
        <p:spPr>
          <a:xfrm>
            <a:off x="7040880" y="4416552"/>
            <a:ext cx="3520440" cy="566928"/>
          </a:xfrm>
          <a:prstGeom prst="rect">
            <a:avLst/>
          </a:prstGeom>
          <a:noFill/>
          <a:ln/>
        </p:spPr>
        <p:txBody>
          <a:bodyPr wrap="square" lIns="254" tIns="254" rIns="254" bIns="254" rtlCol="0" anchor="t">
            <a:normAutofit/>
          </a:bodyPr>
          <a:lstStyle/>
          <a:p>
            <a:pPr indent="0" marL="0">
              <a:buNone/>
            </a:pPr>
            <a:r>
              <a:rPr lang="en-US" sz="1150" dirty="0">
                <a:solidFill>
                  <a:srgbClr val="243B53"/>
                </a:solidFill>
              </a:rPr>
              <a:t>HumanEval is useful for controlled Pass@1 evaluation, but the sample is too small for high-capacity semantic models.</a:t>
            </a:r>
            <a:endParaRPr lang="en-US" sz="1150" dirty="0"/>
          </a:p>
        </p:txBody>
      </p:sp>
      <p:sp>
        <p:nvSpPr>
          <p:cNvPr id="22" name="Text 20"/>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23" name="Text 21"/>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APPROACH 1</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Run paired HumanEval experiments, then learn from task features</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HumanEval decomposition routing</a:t>
            </a:r>
            <a:endParaRPr lang="en-US" sz="850" dirty="0"/>
          </a:p>
        </p:txBody>
      </p:sp>
      <p:sp>
        <p:nvSpPr>
          <p:cNvPr id="6" name="Shape 4"/>
          <p:cNvSpPr/>
          <p:nvPr/>
        </p:nvSpPr>
        <p:spPr>
          <a:xfrm>
            <a:off x="685800" y="1463040"/>
            <a:ext cx="10744200" cy="4480560"/>
          </a:xfrm>
          <a:prstGeom prst="roundRect">
            <a:avLst>
              <a:gd name="adj" fmla="val 1633"/>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Shape 5"/>
          <p:cNvSpPr/>
          <p:nvPr/>
        </p:nvSpPr>
        <p:spPr>
          <a:xfrm>
            <a:off x="1051560" y="2331720"/>
            <a:ext cx="1417320" cy="960120"/>
          </a:xfrm>
          <a:prstGeom prst="roundRect">
            <a:avLst>
              <a:gd name="adj" fmla="val 7619"/>
            </a:avLst>
          </a:prstGeom>
          <a:solidFill>
            <a:srgbClr val="EEF4FF"/>
          </a:solidFill>
          <a:ln w="12700">
            <a:solidFill>
              <a:srgbClr val="C9D6E5"/>
            </a:solidFill>
            <a:prstDash val="solid"/>
          </a:ln>
        </p:spPr>
      </p:sp>
      <p:sp>
        <p:nvSpPr>
          <p:cNvPr id="8" name="Text 6"/>
          <p:cNvSpPr/>
          <p:nvPr/>
        </p:nvSpPr>
        <p:spPr>
          <a:xfrm>
            <a:off x="1161288" y="2514600"/>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16202A"/>
                </a:solidFill>
              </a:rPr>
              <a:t>HumanEval task</a:t>
            </a:r>
            <a:endParaRPr lang="en-US" sz="950" dirty="0"/>
          </a:p>
        </p:txBody>
      </p:sp>
      <p:sp>
        <p:nvSpPr>
          <p:cNvPr id="9" name="Text 7"/>
          <p:cNvSpPr/>
          <p:nvPr/>
        </p:nvSpPr>
        <p:spPr>
          <a:xfrm>
            <a:off x="1143000" y="2816352"/>
            <a:ext cx="1234440" cy="164592"/>
          </a:xfrm>
          <a:prstGeom prst="rect">
            <a:avLst/>
          </a:prstGeom>
          <a:noFill/>
          <a:ln/>
        </p:spPr>
        <p:txBody>
          <a:bodyPr wrap="square" lIns="0" tIns="0" rIns="0" bIns="0" rtlCol="0" anchor="ctr">
            <a:normAutofit/>
          </a:bodyPr>
          <a:lstStyle/>
          <a:p>
            <a:pPr algn="ctr" indent="0" marL="0">
              <a:buNone/>
            </a:pPr>
            <a:r>
              <a:rPr lang="en-US" sz="750" dirty="0">
                <a:solidFill>
                  <a:srgbClr val="667085"/>
                </a:solidFill>
              </a:rPr>
              <a:t>164 prompts</a:t>
            </a:r>
            <a:endParaRPr lang="en-US" sz="750" dirty="0"/>
          </a:p>
        </p:txBody>
      </p:sp>
      <p:sp>
        <p:nvSpPr>
          <p:cNvPr id="10" name="Shape 8"/>
          <p:cNvSpPr/>
          <p:nvPr/>
        </p:nvSpPr>
        <p:spPr>
          <a:xfrm>
            <a:off x="2587752" y="2807208"/>
            <a:ext cx="475488" cy="0"/>
          </a:xfrm>
          <a:prstGeom prst="line">
            <a:avLst/>
          </a:prstGeom>
          <a:noFill/>
          <a:ln w="12700">
            <a:solidFill>
              <a:srgbClr val="2F6FED"/>
            </a:solidFill>
            <a:prstDash val="solid"/>
            <a:headEnd type="none"/>
            <a:tailEnd type="triangle"/>
          </a:ln>
        </p:spPr>
      </p:sp>
      <p:sp>
        <p:nvSpPr>
          <p:cNvPr id="11" name="Shape 9"/>
          <p:cNvSpPr/>
          <p:nvPr/>
        </p:nvSpPr>
        <p:spPr>
          <a:xfrm>
            <a:off x="3154680" y="2331720"/>
            <a:ext cx="1417320" cy="960120"/>
          </a:xfrm>
          <a:prstGeom prst="roundRect">
            <a:avLst>
              <a:gd name="adj" fmla="val 7619"/>
            </a:avLst>
          </a:prstGeom>
          <a:solidFill>
            <a:srgbClr val="FFFFFF"/>
          </a:solidFill>
          <a:ln w="12700">
            <a:solidFill>
              <a:srgbClr val="C9D6E5"/>
            </a:solidFill>
            <a:prstDash val="solid"/>
          </a:ln>
        </p:spPr>
      </p:sp>
      <p:sp>
        <p:nvSpPr>
          <p:cNvPr id="12" name="Text 10"/>
          <p:cNvSpPr/>
          <p:nvPr/>
        </p:nvSpPr>
        <p:spPr>
          <a:xfrm>
            <a:off x="3264408" y="2514600"/>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16202A"/>
                </a:solidFill>
              </a:rPr>
              <a:t>Direct baseline</a:t>
            </a:r>
            <a:endParaRPr lang="en-US" sz="950" dirty="0"/>
          </a:p>
        </p:txBody>
      </p:sp>
      <p:sp>
        <p:nvSpPr>
          <p:cNvPr id="13" name="Text 11"/>
          <p:cNvSpPr/>
          <p:nvPr/>
        </p:nvSpPr>
        <p:spPr>
          <a:xfrm>
            <a:off x="3246120" y="2816352"/>
            <a:ext cx="1234440" cy="164592"/>
          </a:xfrm>
          <a:prstGeom prst="rect">
            <a:avLst/>
          </a:prstGeom>
          <a:noFill/>
          <a:ln/>
        </p:spPr>
        <p:txBody>
          <a:bodyPr wrap="square" lIns="0" tIns="0" rIns="0" bIns="0" rtlCol="0" anchor="ctr">
            <a:normAutofit/>
          </a:bodyPr>
          <a:lstStyle/>
          <a:p>
            <a:pPr algn="ctr" indent="0" marL="0">
              <a:buNone/>
            </a:pPr>
            <a:r>
              <a:rPr lang="en-US" sz="750" dirty="0">
                <a:solidFill>
                  <a:srgbClr val="667085"/>
                </a:solidFill>
              </a:rPr>
              <a:t>original prompt</a:t>
            </a:r>
            <a:endParaRPr lang="en-US" sz="750" dirty="0"/>
          </a:p>
        </p:txBody>
      </p:sp>
      <p:sp>
        <p:nvSpPr>
          <p:cNvPr id="14" name="Shape 12"/>
          <p:cNvSpPr/>
          <p:nvPr/>
        </p:nvSpPr>
        <p:spPr>
          <a:xfrm>
            <a:off x="4690872" y="2807208"/>
            <a:ext cx="475488" cy="0"/>
          </a:xfrm>
          <a:prstGeom prst="line">
            <a:avLst/>
          </a:prstGeom>
          <a:noFill/>
          <a:ln w="12700">
            <a:solidFill>
              <a:srgbClr val="2F6FED"/>
            </a:solidFill>
            <a:prstDash val="solid"/>
            <a:headEnd type="none"/>
            <a:tailEnd type="triangle"/>
          </a:ln>
        </p:spPr>
      </p:sp>
      <p:sp>
        <p:nvSpPr>
          <p:cNvPr id="15" name="Shape 13"/>
          <p:cNvSpPr/>
          <p:nvPr/>
        </p:nvSpPr>
        <p:spPr>
          <a:xfrm>
            <a:off x="5257800" y="2331720"/>
            <a:ext cx="1417320" cy="960120"/>
          </a:xfrm>
          <a:prstGeom prst="roundRect">
            <a:avLst>
              <a:gd name="adj" fmla="val 7619"/>
            </a:avLst>
          </a:prstGeom>
          <a:solidFill>
            <a:srgbClr val="FFFFFF"/>
          </a:solidFill>
          <a:ln w="12700">
            <a:solidFill>
              <a:srgbClr val="C9D6E5"/>
            </a:solidFill>
            <a:prstDash val="solid"/>
          </a:ln>
        </p:spPr>
      </p:sp>
      <p:sp>
        <p:nvSpPr>
          <p:cNvPr id="16" name="Text 14"/>
          <p:cNvSpPr/>
          <p:nvPr/>
        </p:nvSpPr>
        <p:spPr>
          <a:xfrm>
            <a:off x="5367528" y="2514600"/>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16202A"/>
                </a:solidFill>
              </a:rPr>
              <a:t>Plan-then-code</a:t>
            </a:r>
            <a:endParaRPr lang="en-US" sz="950" dirty="0"/>
          </a:p>
        </p:txBody>
      </p:sp>
      <p:sp>
        <p:nvSpPr>
          <p:cNvPr id="17" name="Text 15"/>
          <p:cNvSpPr/>
          <p:nvPr/>
        </p:nvSpPr>
        <p:spPr>
          <a:xfrm>
            <a:off x="5349240" y="2816352"/>
            <a:ext cx="1234440" cy="164592"/>
          </a:xfrm>
          <a:prstGeom prst="rect">
            <a:avLst/>
          </a:prstGeom>
          <a:noFill/>
          <a:ln/>
        </p:spPr>
        <p:txBody>
          <a:bodyPr wrap="square" lIns="0" tIns="0" rIns="0" bIns="0" rtlCol="0" anchor="ctr">
            <a:normAutofit/>
          </a:bodyPr>
          <a:lstStyle/>
          <a:p>
            <a:pPr algn="ctr" indent="0" marL="0">
              <a:buNone/>
            </a:pPr>
            <a:r>
              <a:rPr lang="en-US" sz="750" dirty="0">
                <a:solidFill>
                  <a:srgbClr val="667085"/>
                </a:solidFill>
              </a:rPr>
              <a:t>planning appendix</a:t>
            </a:r>
            <a:endParaRPr lang="en-US" sz="750" dirty="0"/>
          </a:p>
        </p:txBody>
      </p:sp>
      <p:sp>
        <p:nvSpPr>
          <p:cNvPr id="18" name="Shape 16"/>
          <p:cNvSpPr/>
          <p:nvPr/>
        </p:nvSpPr>
        <p:spPr>
          <a:xfrm>
            <a:off x="6793992" y="2807208"/>
            <a:ext cx="475488" cy="0"/>
          </a:xfrm>
          <a:prstGeom prst="line">
            <a:avLst/>
          </a:prstGeom>
          <a:noFill/>
          <a:ln w="12700">
            <a:solidFill>
              <a:srgbClr val="2F6FED"/>
            </a:solidFill>
            <a:prstDash val="solid"/>
            <a:headEnd type="none"/>
            <a:tailEnd type="triangle"/>
          </a:ln>
        </p:spPr>
      </p:sp>
      <p:sp>
        <p:nvSpPr>
          <p:cNvPr id="19" name="Shape 17"/>
          <p:cNvSpPr/>
          <p:nvPr/>
        </p:nvSpPr>
        <p:spPr>
          <a:xfrm>
            <a:off x="7360920" y="2331720"/>
            <a:ext cx="1417320" cy="960120"/>
          </a:xfrm>
          <a:prstGeom prst="roundRect">
            <a:avLst>
              <a:gd name="adj" fmla="val 7619"/>
            </a:avLst>
          </a:prstGeom>
          <a:solidFill>
            <a:srgbClr val="E9F8F0"/>
          </a:solidFill>
          <a:ln w="12700">
            <a:solidFill>
              <a:srgbClr val="A7D8BC"/>
            </a:solidFill>
            <a:prstDash val="solid"/>
          </a:ln>
        </p:spPr>
      </p:sp>
      <p:sp>
        <p:nvSpPr>
          <p:cNvPr id="20" name="Text 18"/>
          <p:cNvSpPr/>
          <p:nvPr/>
        </p:nvSpPr>
        <p:spPr>
          <a:xfrm>
            <a:off x="7470648" y="2514600"/>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16202A"/>
                </a:solidFill>
              </a:rPr>
              <a:t>Paired label</a:t>
            </a:r>
            <a:endParaRPr lang="en-US" sz="950" dirty="0"/>
          </a:p>
        </p:txBody>
      </p:sp>
      <p:sp>
        <p:nvSpPr>
          <p:cNvPr id="21" name="Text 19"/>
          <p:cNvSpPr/>
          <p:nvPr/>
        </p:nvSpPr>
        <p:spPr>
          <a:xfrm>
            <a:off x="7452360" y="2816352"/>
            <a:ext cx="1234440" cy="164592"/>
          </a:xfrm>
          <a:prstGeom prst="rect">
            <a:avLst/>
          </a:prstGeom>
          <a:noFill/>
          <a:ln/>
        </p:spPr>
        <p:txBody>
          <a:bodyPr wrap="square" lIns="0" tIns="0" rIns="0" bIns="0" rtlCol="0" anchor="ctr">
            <a:normAutofit/>
          </a:bodyPr>
          <a:lstStyle/>
          <a:p>
            <a:pPr algn="ctr" indent="0" marL="0">
              <a:buNone/>
            </a:pPr>
            <a:r>
              <a:rPr lang="en-US" sz="750" dirty="0">
                <a:solidFill>
                  <a:srgbClr val="667085"/>
                </a:solidFill>
              </a:rPr>
              <a:t>decomp pass, base fail</a:t>
            </a:r>
            <a:endParaRPr lang="en-US" sz="750" dirty="0"/>
          </a:p>
        </p:txBody>
      </p:sp>
      <p:sp>
        <p:nvSpPr>
          <p:cNvPr id="22" name="Shape 20"/>
          <p:cNvSpPr/>
          <p:nvPr/>
        </p:nvSpPr>
        <p:spPr>
          <a:xfrm>
            <a:off x="8897112" y="2807208"/>
            <a:ext cx="475488" cy="0"/>
          </a:xfrm>
          <a:prstGeom prst="line">
            <a:avLst/>
          </a:prstGeom>
          <a:noFill/>
          <a:ln w="12700">
            <a:solidFill>
              <a:srgbClr val="2F6FED"/>
            </a:solidFill>
            <a:prstDash val="solid"/>
            <a:headEnd type="none"/>
            <a:tailEnd type="triangle"/>
          </a:ln>
        </p:spPr>
      </p:sp>
      <p:sp>
        <p:nvSpPr>
          <p:cNvPr id="23" name="Shape 21"/>
          <p:cNvSpPr/>
          <p:nvPr/>
        </p:nvSpPr>
        <p:spPr>
          <a:xfrm>
            <a:off x="9464040" y="2331720"/>
            <a:ext cx="1417320" cy="960120"/>
          </a:xfrm>
          <a:prstGeom prst="roundRect">
            <a:avLst>
              <a:gd name="adj" fmla="val 7619"/>
            </a:avLst>
          </a:prstGeom>
          <a:solidFill>
            <a:srgbClr val="FFFFFF"/>
          </a:solidFill>
          <a:ln w="12700">
            <a:solidFill>
              <a:srgbClr val="C9D6E5"/>
            </a:solidFill>
            <a:prstDash val="solid"/>
          </a:ln>
        </p:spPr>
      </p:sp>
      <p:sp>
        <p:nvSpPr>
          <p:cNvPr id="24" name="Text 22"/>
          <p:cNvSpPr/>
          <p:nvPr/>
        </p:nvSpPr>
        <p:spPr>
          <a:xfrm>
            <a:off x="9573768" y="2514600"/>
            <a:ext cx="1197864" cy="201168"/>
          </a:xfrm>
          <a:prstGeom prst="rect">
            <a:avLst/>
          </a:prstGeom>
          <a:noFill/>
          <a:ln/>
        </p:spPr>
        <p:txBody>
          <a:bodyPr wrap="square" lIns="0" tIns="0" rIns="0" bIns="0" rtlCol="0" anchor="ctr">
            <a:normAutofit/>
          </a:bodyPr>
          <a:lstStyle/>
          <a:p>
            <a:pPr algn="ctr" indent="0" marL="0">
              <a:buNone/>
            </a:pPr>
            <a:r>
              <a:rPr lang="en-US" sz="950" b="1" dirty="0">
                <a:solidFill>
                  <a:srgbClr val="16202A"/>
                </a:solidFill>
              </a:rPr>
              <a:t>Router eval</a:t>
            </a:r>
            <a:endParaRPr lang="en-US" sz="950" dirty="0"/>
          </a:p>
        </p:txBody>
      </p:sp>
      <p:sp>
        <p:nvSpPr>
          <p:cNvPr id="25" name="Text 23"/>
          <p:cNvSpPr/>
          <p:nvPr/>
        </p:nvSpPr>
        <p:spPr>
          <a:xfrm>
            <a:off x="9555480" y="2816352"/>
            <a:ext cx="1234440" cy="164592"/>
          </a:xfrm>
          <a:prstGeom prst="rect">
            <a:avLst/>
          </a:prstGeom>
          <a:noFill/>
          <a:ln/>
        </p:spPr>
        <p:txBody>
          <a:bodyPr wrap="square" lIns="0" tIns="0" rIns="0" bIns="0" rtlCol="0" anchor="ctr">
            <a:normAutofit/>
          </a:bodyPr>
          <a:lstStyle/>
          <a:p>
            <a:pPr algn="ctr" indent="0" marL="0">
              <a:buNone/>
            </a:pPr>
            <a:r>
              <a:rPr lang="en-US" sz="750" dirty="0">
                <a:solidFill>
                  <a:srgbClr val="667085"/>
                </a:solidFill>
              </a:rPr>
              <a:t>success + cost</a:t>
            </a:r>
            <a:endParaRPr lang="en-US" sz="750" dirty="0"/>
          </a:p>
        </p:txBody>
      </p:sp>
      <p:sp>
        <p:nvSpPr>
          <p:cNvPr id="26" name="Text 24"/>
          <p:cNvSpPr/>
          <p:nvPr/>
        </p:nvSpPr>
        <p:spPr>
          <a:xfrm>
            <a:off x="1051560" y="4160520"/>
            <a:ext cx="1554480" cy="201168"/>
          </a:xfrm>
          <a:prstGeom prst="rect">
            <a:avLst/>
          </a:prstGeom>
          <a:noFill/>
          <a:ln/>
        </p:spPr>
        <p:txBody>
          <a:bodyPr wrap="square" lIns="0" tIns="0" rIns="0" bIns="0" rtlCol="0" anchor="ctr"/>
          <a:lstStyle/>
          <a:p>
            <a:pPr indent="0" marL="0">
              <a:buNone/>
            </a:pPr>
            <a:r>
              <a:rPr lang="en-US" sz="850" b="1" dirty="0">
                <a:solidFill>
                  <a:srgbClr val="36A269"/>
                </a:solidFill>
              </a:rPr>
              <a:t>LABELING RULE</a:t>
            </a:r>
            <a:endParaRPr lang="en-US" sz="850" dirty="0"/>
          </a:p>
        </p:txBody>
      </p:sp>
      <p:sp>
        <p:nvSpPr>
          <p:cNvPr id="27" name="Text 25"/>
          <p:cNvSpPr/>
          <p:nvPr/>
        </p:nvSpPr>
        <p:spPr>
          <a:xfrm>
            <a:off x="1051560" y="4480560"/>
            <a:ext cx="4297680" cy="658368"/>
          </a:xfrm>
          <a:prstGeom prst="rect">
            <a:avLst/>
          </a:prstGeom>
          <a:noFill/>
          <a:ln/>
        </p:spPr>
        <p:txBody>
          <a:bodyPr wrap="square" lIns="254" tIns="254" rIns="254" bIns="254" rtlCol="0" anchor="t">
            <a:normAutofit/>
          </a:bodyPr>
          <a:lstStyle/>
          <a:p>
            <a:pPr indent="0" marL="0">
              <a:buNone/>
            </a:pPr>
            <a:r>
              <a:rPr lang="en-US" sz="1230" dirty="0">
                <a:solidFill>
                  <a:srgbClr val="16202A"/>
                </a:solidFill>
              </a:rPr>
              <a:t>Positive iff decomposition passes and the baseline fails. Both-pass cases are treated as baseline-sufficient because the direct prompt has lower overhead.</a:t>
            </a:r>
            <a:endParaRPr lang="en-US" sz="1230" dirty="0"/>
          </a:p>
        </p:txBody>
      </p:sp>
      <p:sp>
        <p:nvSpPr>
          <p:cNvPr id="28" name="Text 26"/>
          <p:cNvSpPr/>
          <p:nvPr/>
        </p:nvSpPr>
        <p:spPr>
          <a:xfrm>
            <a:off x="5989320" y="4160520"/>
            <a:ext cx="1097280" cy="201168"/>
          </a:xfrm>
          <a:prstGeom prst="rect">
            <a:avLst/>
          </a:prstGeom>
          <a:noFill/>
          <a:ln/>
        </p:spPr>
        <p:txBody>
          <a:bodyPr wrap="square" lIns="0" tIns="0" rIns="0" bIns="0" rtlCol="0" anchor="ctr"/>
          <a:lstStyle/>
          <a:p>
            <a:pPr indent="0" marL="0">
              <a:buNone/>
            </a:pPr>
            <a:r>
              <a:rPr lang="en-US" sz="850" b="1" dirty="0">
                <a:solidFill>
                  <a:srgbClr val="2F6FED"/>
                </a:solidFill>
              </a:rPr>
              <a:t>WHY PAIRED?</a:t>
            </a:r>
            <a:endParaRPr lang="en-US" sz="850" dirty="0"/>
          </a:p>
        </p:txBody>
      </p:sp>
      <p:sp>
        <p:nvSpPr>
          <p:cNvPr id="29" name="Text 27"/>
          <p:cNvSpPr/>
          <p:nvPr/>
        </p:nvSpPr>
        <p:spPr>
          <a:xfrm>
            <a:off x="5989320" y="4480560"/>
            <a:ext cx="4297680" cy="594360"/>
          </a:xfrm>
          <a:prstGeom prst="rect">
            <a:avLst/>
          </a:prstGeom>
          <a:noFill/>
          <a:ln/>
        </p:spPr>
        <p:txBody>
          <a:bodyPr wrap="square" lIns="254" tIns="254" rIns="254" bIns="254" rtlCol="0" anchor="t">
            <a:normAutofit/>
          </a:bodyPr>
          <a:lstStyle/>
          <a:p>
            <a:pPr indent="0" marL="0">
              <a:buNone/>
            </a:pPr>
            <a:r>
              <a:rPr lang="en-US" sz="1230" dirty="0">
                <a:solidFill>
                  <a:srgbClr val="16202A"/>
                </a:solidFill>
              </a:rPr>
              <a:t>Every task has both outcomes, so routing can be compared against fixed policies on exactly the same tasks.</a:t>
            </a:r>
            <a:endParaRPr lang="en-US" sz="1230" dirty="0"/>
          </a:p>
        </p:txBody>
      </p:sp>
      <p:sp>
        <p:nvSpPr>
          <p:cNvPr id="30" name="Text 28"/>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31" name="Text 29"/>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APPROACH 2</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Use a low-dimensional XGBoost router because the data are tabular</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HumanEval decomposition routing</a:t>
            </a:r>
            <a:endParaRPr lang="en-US" sz="850" dirty="0"/>
          </a:p>
        </p:txBody>
      </p:sp>
      <p:sp>
        <p:nvSpPr>
          <p:cNvPr id="6" name="Shape 4"/>
          <p:cNvSpPr/>
          <p:nvPr/>
        </p:nvSpPr>
        <p:spPr>
          <a:xfrm>
            <a:off x="685800" y="1417320"/>
            <a:ext cx="3429000" cy="4480560"/>
          </a:xfrm>
          <a:prstGeom prst="roundRect">
            <a:avLst>
              <a:gd name="adj" fmla="val 2133"/>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Text 5"/>
          <p:cNvSpPr/>
          <p:nvPr/>
        </p:nvSpPr>
        <p:spPr>
          <a:xfrm>
            <a:off x="960120" y="1719072"/>
            <a:ext cx="1371600" cy="201168"/>
          </a:xfrm>
          <a:prstGeom prst="rect">
            <a:avLst/>
          </a:prstGeom>
          <a:noFill/>
          <a:ln/>
        </p:spPr>
        <p:txBody>
          <a:bodyPr wrap="square" lIns="0" tIns="0" rIns="0" bIns="0" rtlCol="0" anchor="ctr"/>
          <a:lstStyle/>
          <a:p>
            <a:pPr indent="0" marL="0">
              <a:buNone/>
            </a:pPr>
            <a:r>
              <a:rPr lang="en-US" sz="850" b="1" dirty="0">
                <a:solidFill>
                  <a:srgbClr val="2F6FED"/>
                </a:solidFill>
              </a:rPr>
              <a:t>FEATURE GROUPS</a:t>
            </a:r>
            <a:endParaRPr lang="en-US" sz="850" dirty="0"/>
          </a:p>
        </p:txBody>
      </p:sp>
      <p:sp>
        <p:nvSpPr>
          <p:cNvPr id="8" name="Text 6"/>
          <p:cNvSpPr/>
          <p:nvPr/>
        </p:nvSpPr>
        <p:spPr>
          <a:xfrm>
            <a:off x="932688" y="2103120"/>
            <a:ext cx="2788920" cy="1828800"/>
          </a:xfrm>
          <a:prstGeom prst="rect">
            <a:avLst/>
          </a:prstGeom>
          <a:noFill/>
          <a:ln/>
        </p:spPr>
        <p:txBody>
          <a:bodyPr wrap="square" lIns="635" tIns="635" rIns="635" bIns="635" rtlCol="0" anchor="t">
            <a:normAutofit/>
          </a:bodyPr>
          <a:lstStyle/>
          <a:p>
            <a:r>
              <a:rPr lang="en-US" sz="1150" dirty="0">
                <a:solidFill>
                  <a:srgbClr val="16202A"/>
                </a:solidFill>
              </a:rPr>
              <a:t>Difficulty and scale: statement length, code length, AST nodes, functions, cyclomatic proxy</a:t>
            </a:r>
            <a:endParaRPr lang="en-US" sz="1150" dirty="0"/>
          </a:p>
          <a:p>
            <a:r>
              <a:rPr lang="en-US" sz="1150" dirty="0">
                <a:solidFill>
                  <a:srgbClr val="16202A"/>
                </a:solidFill>
              </a:rPr>
              <a:t>Structure: imports, external calls, compositionality hints, independence hints</a:t>
            </a:r>
            <a:endParaRPr lang="en-US" sz="1150" dirty="0"/>
          </a:p>
          <a:p>
            <a:r>
              <a:rPr lang="en-US" sz="1150" dirty="0">
                <a:solidFill>
                  <a:srgbClr val="16202A"/>
                </a:solidFill>
              </a:rPr>
              <a:t>Total feature vector: 9 features per task</a:t>
            </a:r>
            <a:endParaRPr lang="en-US" sz="1150" dirty="0"/>
          </a:p>
        </p:txBody>
      </p:sp>
      <p:sp>
        <p:nvSpPr>
          <p:cNvPr id="9" name="Text 7"/>
          <p:cNvSpPr/>
          <p:nvPr/>
        </p:nvSpPr>
        <p:spPr>
          <a:xfrm>
            <a:off x="960120" y="4892040"/>
            <a:ext cx="1234440" cy="384048"/>
          </a:xfrm>
          <a:prstGeom prst="rect">
            <a:avLst/>
          </a:prstGeom>
          <a:noFill/>
          <a:ln/>
        </p:spPr>
        <p:txBody>
          <a:bodyPr wrap="square" lIns="0" tIns="0" rIns="0" bIns="0" rtlCol="0" anchor="ctr">
            <a:normAutofit/>
          </a:bodyPr>
          <a:lstStyle/>
          <a:p>
            <a:pPr indent="0" marL="0">
              <a:buNone/>
            </a:pPr>
            <a:r>
              <a:rPr lang="en-US" sz="2300" b="1" dirty="0">
                <a:solidFill>
                  <a:srgbClr val="2F6FED"/>
                </a:solidFill>
              </a:rPr>
              <a:t>9</a:t>
            </a:r>
            <a:endParaRPr lang="en-US" sz="2300" dirty="0"/>
          </a:p>
        </p:txBody>
      </p:sp>
      <p:sp>
        <p:nvSpPr>
          <p:cNvPr id="10" name="Text 8"/>
          <p:cNvSpPr/>
          <p:nvPr/>
        </p:nvSpPr>
        <p:spPr>
          <a:xfrm>
            <a:off x="960120" y="5349240"/>
            <a:ext cx="123444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features per task</a:t>
            </a:r>
            <a:endParaRPr lang="en-US" sz="950" dirty="0"/>
          </a:p>
        </p:txBody>
      </p:sp>
      <p:sp>
        <p:nvSpPr>
          <p:cNvPr id="11" name="Text 9"/>
          <p:cNvSpPr/>
          <p:nvPr/>
        </p:nvSpPr>
        <p:spPr>
          <a:xfrm>
            <a:off x="2331720" y="4892040"/>
            <a:ext cx="1325880" cy="384048"/>
          </a:xfrm>
          <a:prstGeom prst="rect">
            <a:avLst/>
          </a:prstGeom>
          <a:noFill/>
          <a:ln/>
        </p:spPr>
        <p:txBody>
          <a:bodyPr wrap="square" lIns="0" tIns="0" rIns="0" bIns="0" rtlCol="0" anchor="ctr">
            <a:normAutofit/>
          </a:bodyPr>
          <a:lstStyle/>
          <a:p>
            <a:pPr indent="0" marL="0">
              <a:buNone/>
            </a:pPr>
            <a:r>
              <a:rPr lang="en-US" sz="2300" b="1" dirty="0">
                <a:solidFill>
                  <a:srgbClr val="18A7B5"/>
                </a:solidFill>
              </a:rPr>
              <a:t>164</a:t>
            </a:r>
            <a:endParaRPr lang="en-US" sz="2300" dirty="0"/>
          </a:p>
        </p:txBody>
      </p:sp>
      <p:sp>
        <p:nvSpPr>
          <p:cNvPr id="12" name="Text 10"/>
          <p:cNvSpPr/>
          <p:nvPr/>
        </p:nvSpPr>
        <p:spPr>
          <a:xfrm>
            <a:off x="2331720" y="5349240"/>
            <a:ext cx="132588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training examples</a:t>
            </a:r>
            <a:endParaRPr lang="en-US" sz="950" dirty="0"/>
          </a:p>
        </p:txBody>
      </p:sp>
      <p:sp>
        <p:nvSpPr>
          <p:cNvPr id="13" name="Shape 11"/>
          <p:cNvSpPr/>
          <p:nvPr/>
        </p:nvSpPr>
        <p:spPr>
          <a:xfrm>
            <a:off x="4480560" y="1417320"/>
            <a:ext cx="2926080" cy="4480560"/>
          </a:xfrm>
          <a:prstGeom prst="roundRect">
            <a:avLst>
              <a:gd name="adj" fmla="val 2500"/>
            </a:avLst>
          </a:prstGeom>
          <a:solidFill>
            <a:srgbClr val="F8FBFF"/>
          </a:solidFill>
          <a:ln w="12700">
            <a:solidFill>
              <a:srgbClr val="D7E5FF"/>
            </a:solidFill>
            <a:prstDash val="solid"/>
          </a:ln>
          <a:effectLst>
            <a:outerShdw sx="100000" sy="100000" kx="0" ky="0" algn="bl" rotWithShape="0" blurRad="15240" dist="50800" dir="2700000">
              <a:srgbClr val="CDD6E2">
                <a:alpha val="16000"/>
              </a:srgbClr>
            </a:outerShdw>
          </a:effectLst>
        </p:spPr>
      </p:sp>
      <p:sp>
        <p:nvSpPr>
          <p:cNvPr id="14" name="Text 12"/>
          <p:cNvSpPr/>
          <p:nvPr/>
        </p:nvSpPr>
        <p:spPr>
          <a:xfrm>
            <a:off x="4754880" y="1719072"/>
            <a:ext cx="1371600" cy="201168"/>
          </a:xfrm>
          <a:prstGeom prst="rect">
            <a:avLst/>
          </a:prstGeom>
          <a:noFill/>
          <a:ln/>
        </p:spPr>
        <p:txBody>
          <a:bodyPr wrap="square" lIns="0" tIns="0" rIns="0" bIns="0" rtlCol="0" anchor="ctr"/>
          <a:lstStyle/>
          <a:p>
            <a:pPr indent="0" marL="0">
              <a:buNone/>
            </a:pPr>
            <a:r>
              <a:rPr lang="en-US" sz="850" b="1" dirty="0">
                <a:solidFill>
                  <a:srgbClr val="6E57D2"/>
                </a:solidFill>
              </a:rPr>
              <a:t>MODEL CHOICE</a:t>
            </a:r>
            <a:endParaRPr lang="en-US" sz="850" dirty="0"/>
          </a:p>
        </p:txBody>
      </p:sp>
      <p:sp>
        <p:nvSpPr>
          <p:cNvPr id="15" name="Text 13"/>
          <p:cNvSpPr/>
          <p:nvPr/>
        </p:nvSpPr>
        <p:spPr>
          <a:xfrm>
            <a:off x="4754880" y="2121408"/>
            <a:ext cx="2240280" cy="1234440"/>
          </a:xfrm>
          <a:prstGeom prst="rect">
            <a:avLst/>
          </a:prstGeom>
          <a:noFill/>
          <a:ln/>
        </p:spPr>
        <p:txBody>
          <a:bodyPr wrap="square" lIns="254" tIns="254" rIns="254" bIns="254" rtlCol="0" anchor="t">
            <a:normAutofit/>
          </a:bodyPr>
          <a:lstStyle/>
          <a:p>
            <a:pPr indent="0" marL="0">
              <a:buNone/>
            </a:pPr>
            <a:r>
              <a:rPr lang="en-US" sz="1250" dirty="0">
                <a:solidFill>
                  <a:srgbClr val="16202A"/>
                </a:solidFill>
              </a:rPr>
              <a:t>XGBoost captures nonlinear feature interactions without needing a large dataset. It also preserves post-hoc interpretability through feature importance and ablation.</a:t>
            </a:r>
            <a:endParaRPr lang="en-US" sz="1250" dirty="0"/>
          </a:p>
        </p:txBody>
      </p:sp>
      <p:sp>
        <p:nvSpPr>
          <p:cNvPr id="16" name="Shape 14"/>
          <p:cNvSpPr/>
          <p:nvPr/>
        </p:nvSpPr>
        <p:spPr>
          <a:xfrm>
            <a:off x="4800600" y="3703320"/>
            <a:ext cx="2148840" cy="0"/>
          </a:xfrm>
          <a:prstGeom prst="line">
            <a:avLst/>
          </a:prstGeom>
          <a:noFill/>
          <a:ln w="12700">
            <a:solidFill>
              <a:srgbClr val="CBD8EA"/>
            </a:solidFill>
            <a:prstDash val="solid"/>
          </a:ln>
        </p:spPr>
      </p:sp>
      <p:sp>
        <p:nvSpPr>
          <p:cNvPr id="17" name="Text 15"/>
          <p:cNvSpPr/>
          <p:nvPr/>
        </p:nvSpPr>
        <p:spPr>
          <a:xfrm>
            <a:off x="4754880" y="4023360"/>
            <a:ext cx="2240280" cy="777240"/>
          </a:xfrm>
          <a:prstGeom prst="rect">
            <a:avLst/>
          </a:prstGeom>
          <a:noFill/>
          <a:ln/>
        </p:spPr>
        <p:txBody>
          <a:bodyPr wrap="square" lIns="254" tIns="254" rIns="254" bIns="254" rtlCol="0" anchor="t">
            <a:normAutofit/>
          </a:bodyPr>
          <a:lstStyle/>
          <a:p>
            <a:pPr indent="0" marL="0">
              <a:buNone/>
            </a:pPr>
            <a:r>
              <a:rPr lang="en-US" sz="1200" dirty="0">
                <a:solidFill>
                  <a:srgbClr val="16202A"/>
                </a:solidFill>
              </a:rPr>
              <a:t>Class imbalance is handled with scale_pos_weight = n_negative / n_positive.</a:t>
            </a:r>
            <a:endParaRPr lang="en-US" sz="1200" dirty="0"/>
          </a:p>
        </p:txBody>
      </p:sp>
      <p:sp>
        <p:nvSpPr>
          <p:cNvPr id="18" name="Shape 16"/>
          <p:cNvSpPr/>
          <p:nvPr/>
        </p:nvSpPr>
        <p:spPr>
          <a:xfrm>
            <a:off x="7818120" y="1417320"/>
            <a:ext cx="3429000" cy="4480560"/>
          </a:xfrm>
          <a:prstGeom prst="roundRect">
            <a:avLst>
              <a:gd name="adj" fmla="val 2133"/>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9" name="Text 17"/>
          <p:cNvSpPr/>
          <p:nvPr/>
        </p:nvSpPr>
        <p:spPr>
          <a:xfrm>
            <a:off x="8092440" y="1719072"/>
            <a:ext cx="1965960" cy="201168"/>
          </a:xfrm>
          <a:prstGeom prst="rect">
            <a:avLst/>
          </a:prstGeom>
          <a:noFill/>
          <a:ln/>
        </p:spPr>
        <p:txBody>
          <a:bodyPr wrap="square" lIns="0" tIns="0" rIns="0" bIns="0" rtlCol="0" anchor="ctr"/>
          <a:lstStyle/>
          <a:p>
            <a:pPr indent="0" marL="0">
              <a:buNone/>
            </a:pPr>
            <a:r>
              <a:rPr lang="en-US" sz="850" b="1" dirty="0">
                <a:solidFill>
                  <a:srgbClr val="E5A11A"/>
                </a:solidFill>
              </a:rPr>
              <a:t>ALTERNATIVE CONSIDERED</a:t>
            </a:r>
            <a:endParaRPr lang="en-US" sz="850" dirty="0"/>
          </a:p>
        </p:txBody>
      </p:sp>
      <p:sp>
        <p:nvSpPr>
          <p:cNvPr id="20" name="Text 18"/>
          <p:cNvSpPr/>
          <p:nvPr/>
        </p:nvSpPr>
        <p:spPr>
          <a:xfrm>
            <a:off x="8092440" y="2121408"/>
            <a:ext cx="2651760" cy="777240"/>
          </a:xfrm>
          <a:prstGeom prst="rect">
            <a:avLst/>
          </a:prstGeom>
          <a:noFill/>
          <a:ln/>
        </p:spPr>
        <p:txBody>
          <a:bodyPr wrap="square" lIns="254" tIns="254" rIns="254" bIns="254" rtlCol="0" anchor="t">
            <a:normAutofit/>
          </a:bodyPr>
          <a:lstStyle/>
          <a:p>
            <a:pPr indent="0" marL="0">
              <a:buNone/>
            </a:pPr>
            <a:r>
              <a:rPr lang="en-US" sz="1220" dirty="0">
                <a:solidFill>
                  <a:srgbClr val="16202A"/>
                </a:solidFill>
              </a:rPr>
              <a:t>A transformer encoder such as CodeBERT could capture richer semantics from prompt text and code context.</a:t>
            </a:r>
            <a:endParaRPr lang="en-US" sz="1220" dirty="0"/>
          </a:p>
        </p:txBody>
      </p:sp>
      <p:sp>
        <p:nvSpPr>
          <p:cNvPr id="21" name="Text 19"/>
          <p:cNvSpPr/>
          <p:nvPr/>
        </p:nvSpPr>
        <p:spPr>
          <a:xfrm>
            <a:off x="8092440" y="3337560"/>
            <a:ext cx="2651760" cy="914400"/>
          </a:xfrm>
          <a:prstGeom prst="rect">
            <a:avLst/>
          </a:prstGeom>
          <a:noFill/>
          <a:ln/>
        </p:spPr>
        <p:txBody>
          <a:bodyPr wrap="square" lIns="254" tIns="254" rIns="254" bIns="254" rtlCol="0" anchor="t">
            <a:normAutofit/>
          </a:bodyPr>
          <a:lstStyle/>
          <a:p>
            <a:pPr indent="0" marL="0">
              <a:buNone/>
            </a:pPr>
            <a:r>
              <a:rPr lang="en-US" sz="1220" dirty="0">
                <a:solidFill>
                  <a:srgbClr val="16202A"/>
                </a:solidFill>
              </a:rPr>
              <a:t>We did not use it as the primary method because HumanEval is small and interpretability is central to the research question.</a:t>
            </a:r>
            <a:endParaRPr lang="en-US" sz="1220" dirty="0"/>
          </a:p>
        </p:txBody>
      </p:sp>
      <p:sp>
        <p:nvSpPr>
          <p:cNvPr id="22" name="Shape 20"/>
          <p:cNvSpPr/>
          <p:nvPr/>
        </p:nvSpPr>
        <p:spPr>
          <a:xfrm>
            <a:off x="8092440" y="4983480"/>
            <a:ext cx="1554480" cy="256032"/>
          </a:xfrm>
          <a:prstGeom prst="roundRect">
            <a:avLst>
              <a:gd name="adj" fmla="val 28571"/>
            </a:avLst>
          </a:prstGeom>
          <a:solidFill>
            <a:srgbClr val="36A269"/>
          </a:solidFill>
          <a:ln w="12700">
            <a:solidFill>
              <a:srgbClr val="36A269"/>
            </a:solidFill>
            <a:prstDash val="solid"/>
          </a:ln>
        </p:spPr>
      </p:sp>
      <p:sp>
        <p:nvSpPr>
          <p:cNvPr id="23" name="Text 21"/>
          <p:cNvSpPr/>
          <p:nvPr/>
        </p:nvSpPr>
        <p:spPr>
          <a:xfrm>
            <a:off x="8092440" y="5024628"/>
            <a:ext cx="1554480" cy="1188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Feature-based first</a:t>
            </a:r>
            <a:endParaRPr lang="en-US" sz="780" dirty="0"/>
          </a:p>
        </p:txBody>
      </p:sp>
      <p:sp>
        <p:nvSpPr>
          <p:cNvPr id="24" name="Text 22"/>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25" name="Text 23"/>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EVALUATION</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We evaluate both prediction quality and downstream routing value</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HumanEval decomposition routing</a:t>
            </a:r>
            <a:endParaRPr lang="en-US" sz="850" dirty="0"/>
          </a:p>
        </p:txBody>
      </p:sp>
      <p:sp>
        <p:nvSpPr>
          <p:cNvPr id="6" name="Shape 4"/>
          <p:cNvSpPr/>
          <p:nvPr/>
        </p:nvSpPr>
        <p:spPr>
          <a:xfrm>
            <a:off x="685800" y="1417320"/>
            <a:ext cx="4800600" cy="4526280"/>
          </a:xfrm>
          <a:prstGeom prst="roundRect">
            <a:avLst>
              <a:gd name="adj" fmla="val 1616"/>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Text 5"/>
          <p:cNvSpPr/>
          <p:nvPr/>
        </p:nvSpPr>
        <p:spPr>
          <a:xfrm>
            <a:off x="960120" y="1719072"/>
            <a:ext cx="2011680" cy="201168"/>
          </a:xfrm>
          <a:prstGeom prst="rect">
            <a:avLst/>
          </a:prstGeom>
          <a:noFill/>
          <a:ln/>
        </p:spPr>
        <p:txBody>
          <a:bodyPr wrap="square" lIns="0" tIns="0" rIns="0" bIns="0" rtlCol="0" anchor="ctr"/>
          <a:lstStyle/>
          <a:p>
            <a:pPr indent="0" marL="0">
              <a:buNone/>
            </a:pPr>
            <a:r>
              <a:rPr lang="en-US" sz="850" b="1" dirty="0">
                <a:solidFill>
                  <a:srgbClr val="2F6FED"/>
                </a:solidFill>
              </a:rPr>
              <a:t>CLASSIFICATION METRICS</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60120" y="2103120"/>
          <a:ext cx="4160520" cy="2560320"/>
        </p:xfrm>
        <a:graphic>
          <a:graphicData uri="http://schemas.openxmlformats.org/drawingml/2006/table">
            <a:tbl>
              <a:tblPr/>
              <a:tblGrid>
                <a:gridCol w="2080260"/>
                <a:gridCol w="2080260"/>
              </a:tblGrid>
              <a:tr h="512064">
                <a:tc>
                  <a:txBody>
                    <a:bodyPr/>
                    <a:lstStyle/>
                    <a:p>
                      <a:pPr indent="0" marL="0">
                        <a:buNone/>
                      </a:pPr>
                      <a:r>
                        <a:rPr lang="en-US" sz="950" b="1" dirty="0">
                          <a:solidFill>
                            <a:srgbClr val="FFFFFF"/>
                          </a:solidFill>
                        </a:rPr>
                        <a:t>Metric</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c>
                  <a:txBody>
                    <a:bodyPr/>
                    <a:lstStyle/>
                    <a:p>
                      <a:pPr indent="0" marL="0">
                        <a:buNone/>
                      </a:pPr>
                      <a:r>
                        <a:rPr lang="en-US" sz="950" b="1" dirty="0">
                          <a:solidFill>
                            <a:srgbClr val="FFFFFF"/>
                          </a:solidFill>
                        </a:rPr>
                        <a:t>Why it matters</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r>
              <a:tr h="512064">
                <a:tc>
                  <a:txBody>
                    <a:bodyPr/>
                    <a:lstStyle/>
                    <a:p>
                      <a:pPr indent="0" marL="0">
                        <a:buNone/>
                      </a:pPr>
                      <a:r>
                        <a:rPr lang="en-US" sz="1000" dirty="0">
                          <a:solidFill>
                            <a:srgbClr val="16202A"/>
                          </a:solidFill>
                        </a:rPr>
                        <a:t>AUROC</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Ranks positive tasks above negatives</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16202A"/>
                          </a:solidFill>
                        </a:rPr>
                        <a:t>AUPRC</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More informative under rare positives</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16202A"/>
                          </a:solidFill>
                        </a:rPr>
                        <a:t>F1</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Checks positive prediction quality</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16202A"/>
                          </a:solidFill>
                        </a:rPr>
                        <a:t>Accuracy</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Reported, but can be misleading</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Shape 6"/>
          <p:cNvSpPr/>
          <p:nvPr/>
        </p:nvSpPr>
        <p:spPr>
          <a:xfrm>
            <a:off x="5989320" y="1417320"/>
            <a:ext cx="5257800" cy="4526280"/>
          </a:xfrm>
          <a:prstGeom prst="roundRect">
            <a:avLst>
              <a:gd name="adj" fmla="val 1616"/>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0" name="Text 7"/>
          <p:cNvSpPr/>
          <p:nvPr/>
        </p:nvSpPr>
        <p:spPr>
          <a:xfrm>
            <a:off x="6263640" y="1719072"/>
            <a:ext cx="1554480" cy="201168"/>
          </a:xfrm>
          <a:prstGeom prst="rect">
            <a:avLst/>
          </a:prstGeom>
          <a:noFill/>
          <a:ln/>
        </p:spPr>
        <p:txBody>
          <a:bodyPr wrap="square" lIns="0" tIns="0" rIns="0" bIns="0" rtlCol="0" anchor="ctr"/>
          <a:lstStyle/>
          <a:p>
            <a:pPr indent="0" marL="0">
              <a:buNone/>
            </a:pPr>
            <a:r>
              <a:rPr lang="en-US" sz="850" b="1" dirty="0">
                <a:solidFill>
                  <a:srgbClr val="36A269"/>
                </a:solidFill>
              </a:rPr>
              <a:t>ROUTING METRICS</a:t>
            </a:r>
            <a:endParaRPr lang="en-US" sz="850" dirty="0"/>
          </a:p>
        </p:txBody>
      </p:sp>
      <p:sp>
        <p:nvSpPr>
          <p:cNvPr id="11" name="Text 8"/>
          <p:cNvSpPr/>
          <p:nvPr/>
        </p:nvSpPr>
        <p:spPr>
          <a:xfrm>
            <a:off x="6263640" y="2084832"/>
            <a:ext cx="4297680" cy="320040"/>
          </a:xfrm>
          <a:prstGeom prst="rect">
            <a:avLst/>
          </a:prstGeom>
          <a:noFill/>
          <a:ln/>
        </p:spPr>
        <p:txBody>
          <a:bodyPr wrap="square" lIns="254" tIns="254" rIns="254" bIns="254" rtlCol="0" anchor="t">
            <a:normAutofit/>
          </a:bodyPr>
          <a:lstStyle/>
          <a:p>
            <a:pPr indent="0" marL="0">
              <a:buNone/>
            </a:pPr>
            <a:r>
              <a:rPr lang="en-US" sz="1240" dirty="0">
                <a:solidFill>
                  <a:srgbClr val="16202A"/>
                </a:solidFill>
              </a:rPr>
              <a:t>Compare classifier-routed behavior against two fixed policies:</a:t>
            </a:r>
            <a:endParaRPr lang="en-US" sz="1240" dirty="0"/>
          </a:p>
        </p:txBody>
      </p:sp>
      <p:sp>
        <p:nvSpPr>
          <p:cNvPr id="12" name="Text 9"/>
          <p:cNvSpPr/>
          <p:nvPr/>
        </p:nvSpPr>
        <p:spPr>
          <a:xfrm>
            <a:off x="6263640" y="2542032"/>
            <a:ext cx="4343400" cy="1143000"/>
          </a:xfrm>
          <a:prstGeom prst="rect">
            <a:avLst/>
          </a:prstGeom>
          <a:noFill/>
          <a:ln/>
        </p:spPr>
        <p:txBody>
          <a:bodyPr wrap="square" lIns="635" tIns="635" rIns="635" bIns="635" rtlCol="0" anchor="t">
            <a:normAutofit/>
          </a:bodyPr>
          <a:lstStyle/>
          <a:p>
            <a:r>
              <a:rPr lang="en-US" sz="1200" dirty="0">
                <a:solidFill>
                  <a:srgbClr val="16202A"/>
                </a:solidFill>
              </a:rPr>
              <a:t>Always-baseline: direct prompt for every task</a:t>
            </a:r>
            <a:endParaRPr lang="en-US" sz="1200" dirty="0"/>
          </a:p>
          <a:p>
            <a:r>
              <a:rPr lang="en-US" sz="1200" dirty="0">
                <a:solidFill>
                  <a:srgbClr val="16202A"/>
                </a:solidFill>
              </a:rPr>
              <a:t>Always-decomposition: plan-then-code for every task</a:t>
            </a:r>
            <a:endParaRPr lang="en-US" sz="1200" dirty="0"/>
          </a:p>
          <a:p>
            <a:r>
              <a:rPr lang="en-US" sz="1200" dirty="0">
                <a:solidFill>
                  <a:srgbClr val="16202A"/>
                </a:solidFill>
              </a:rPr>
              <a:t>Classifier-routed: decompose only when predicted useful</a:t>
            </a:r>
            <a:endParaRPr lang="en-US" sz="1200" dirty="0"/>
          </a:p>
        </p:txBody>
      </p:sp>
      <p:sp>
        <p:nvSpPr>
          <p:cNvPr id="13" name="Shape 10"/>
          <p:cNvSpPr/>
          <p:nvPr/>
        </p:nvSpPr>
        <p:spPr>
          <a:xfrm>
            <a:off x="6263640" y="3977640"/>
            <a:ext cx="4343400" cy="0"/>
          </a:xfrm>
          <a:prstGeom prst="line">
            <a:avLst/>
          </a:prstGeom>
          <a:noFill/>
          <a:ln w="12700">
            <a:solidFill>
              <a:srgbClr val="D6DEE8"/>
            </a:solidFill>
            <a:prstDash val="solid"/>
          </a:ln>
        </p:spPr>
      </p:sp>
      <p:sp>
        <p:nvSpPr>
          <p:cNvPr id="14" name="Text 11"/>
          <p:cNvSpPr/>
          <p:nvPr/>
        </p:nvSpPr>
        <p:spPr>
          <a:xfrm>
            <a:off x="6263640" y="4297680"/>
            <a:ext cx="4251960" cy="658368"/>
          </a:xfrm>
          <a:prstGeom prst="rect">
            <a:avLst/>
          </a:prstGeom>
          <a:noFill/>
          <a:ln/>
        </p:spPr>
        <p:txBody>
          <a:bodyPr wrap="square" lIns="254" tIns="254" rIns="254" bIns="254" rtlCol="0" anchor="t">
            <a:normAutofit/>
          </a:bodyPr>
          <a:lstStyle/>
          <a:p>
            <a:pPr indent="0" marL="0">
              <a:buNone/>
            </a:pPr>
            <a:r>
              <a:rPr lang="en-US" sz="1250" dirty="0">
                <a:solidFill>
                  <a:srgbClr val="16202A"/>
                </a:solidFill>
              </a:rPr>
              <a:t>Success rate is Pass@1. Estimated cost uses baseline = 1.0 and decomposition = 2.0.</a:t>
            </a:r>
            <a:endParaRPr lang="en-US" sz="1250" dirty="0"/>
          </a:p>
        </p:txBody>
      </p:sp>
      <p:sp>
        <p:nvSpPr>
          <p:cNvPr id="15" name="Text 12"/>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16" name="Text 13"/>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RESULTS</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Routing matches the intuition: decompose rarely, but not never</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HumanEval decomposition routing</a:t>
            </a:r>
            <a:endParaRPr lang="en-US" sz="850" dirty="0"/>
          </a:p>
        </p:txBody>
      </p:sp>
      <p:sp>
        <p:nvSpPr>
          <p:cNvPr id="6" name="Shape 4"/>
          <p:cNvSpPr/>
          <p:nvPr/>
        </p:nvSpPr>
        <p:spPr>
          <a:xfrm>
            <a:off x="685800" y="1325880"/>
            <a:ext cx="3794760" cy="4526280"/>
          </a:xfrm>
          <a:prstGeom prst="roundRect">
            <a:avLst>
              <a:gd name="adj" fmla="val 1928"/>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Text 5"/>
          <p:cNvSpPr/>
          <p:nvPr/>
        </p:nvSpPr>
        <p:spPr>
          <a:xfrm>
            <a:off x="960120" y="1645920"/>
            <a:ext cx="1463040" cy="201168"/>
          </a:xfrm>
          <a:prstGeom prst="rect">
            <a:avLst/>
          </a:prstGeom>
          <a:noFill/>
          <a:ln/>
        </p:spPr>
        <p:txBody>
          <a:bodyPr wrap="square" lIns="0" tIns="0" rIns="0" bIns="0" rtlCol="0" anchor="ctr"/>
          <a:lstStyle/>
          <a:p>
            <a:pPr indent="0" marL="0">
              <a:buNone/>
            </a:pPr>
            <a:r>
              <a:rPr lang="en-US" sz="850" b="1" dirty="0">
                <a:solidFill>
                  <a:srgbClr val="2F6FED"/>
                </a:solidFill>
              </a:rPr>
              <a:t>POLICY OUTCOMES</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60120" y="2039112"/>
          <a:ext cx="3200400" cy="2057400"/>
        </p:xfrm>
        <a:graphic>
          <a:graphicData uri="http://schemas.openxmlformats.org/drawingml/2006/table">
            <a:tbl>
              <a:tblPr/>
              <a:tblGrid>
                <a:gridCol w="1066800"/>
                <a:gridCol w="1066800"/>
                <a:gridCol w="1066800"/>
              </a:tblGrid>
              <a:tr h="514350">
                <a:tc>
                  <a:txBody>
                    <a:bodyPr/>
                    <a:lstStyle/>
                    <a:p>
                      <a:pPr indent="0" marL="0">
                        <a:buNone/>
                      </a:pPr>
                      <a:r>
                        <a:rPr lang="en-US" sz="950" b="1" dirty="0">
                          <a:solidFill>
                            <a:srgbClr val="FFFFFF"/>
                          </a:solidFill>
                        </a:rPr>
                        <a:t>Policy</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c>
                  <a:txBody>
                    <a:bodyPr/>
                    <a:lstStyle/>
                    <a:p>
                      <a:pPr indent="0" marL="0">
                        <a:buNone/>
                      </a:pPr>
                      <a:r>
                        <a:rPr lang="en-US" sz="950" b="1" dirty="0">
                          <a:solidFill>
                            <a:srgbClr val="FFFFFF"/>
                          </a:solidFill>
                        </a:rPr>
                        <a:t>Success</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c>
                  <a:txBody>
                    <a:bodyPr/>
                    <a:lstStyle/>
                    <a:p>
                      <a:pPr indent="0" marL="0">
                        <a:buNone/>
                      </a:pPr>
                      <a:r>
                        <a:rPr lang="en-US" sz="950" b="1" dirty="0">
                          <a:solidFill>
                            <a:srgbClr val="FFFFFF"/>
                          </a:solidFill>
                        </a:rPr>
                        <a:t>Cost</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r>
              <a:tr h="514350">
                <a:tc>
                  <a:txBody>
                    <a:bodyPr/>
                    <a:lstStyle/>
                    <a:p>
                      <a:pPr indent="0" marL="0">
                        <a:buNone/>
                      </a:pPr>
                      <a:r>
                        <a:rPr lang="en-US" sz="1000" dirty="0">
                          <a:solidFill>
                            <a:srgbClr val="16202A"/>
                          </a:solidFill>
                        </a:rPr>
                        <a:t>Always-baseline</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85.98%</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1.00</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14350">
                <a:tc>
                  <a:txBody>
                    <a:bodyPr/>
                    <a:lstStyle/>
                    <a:p>
                      <a:pPr indent="0" marL="0">
                        <a:buNone/>
                      </a:pPr>
                      <a:r>
                        <a:rPr lang="en-US" sz="1000" dirty="0">
                          <a:solidFill>
                            <a:srgbClr val="16202A"/>
                          </a:solidFill>
                        </a:rPr>
                        <a:t>Always-decomp</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89.02%</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2.00</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14350">
                <a:tc>
                  <a:txBody>
                    <a:bodyPr/>
                    <a:lstStyle/>
                    <a:p>
                      <a:pPr indent="0" marL="0">
                        <a:buNone/>
                      </a:pPr>
                      <a:r>
                        <a:rPr lang="en-US" sz="1000" dirty="0">
                          <a:solidFill>
                            <a:srgbClr val="16202A"/>
                          </a:solidFill>
                        </a:rPr>
                        <a:t>XGBoost-routed</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92.07%</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1.06</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bl>
          </a:graphicData>
        </a:graphic>
      </p:graphicFrame>
      <p:sp>
        <p:nvSpPr>
          <p:cNvPr id="9" name="Text 6"/>
          <p:cNvSpPr/>
          <p:nvPr/>
        </p:nvSpPr>
        <p:spPr>
          <a:xfrm>
            <a:off x="960120" y="4663440"/>
            <a:ext cx="2651760" cy="384048"/>
          </a:xfrm>
          <a:prstGeom prst="rect">
            <a:avLst/>
          </a:prstGeom>
          <a:noFill/>
          <a:ln/>
        </p:spPr>
        <p:txBody>
          <a:bodyPr wrap="square" lIns="0" tIns="0" rIns="0" bIns="0" rtlCol="0" anchor="ctr">
            <a:normAutofit/>
          </a:bodyPr>
          <a:lstStyle/>
          <a:p>
            <a:pPr indent="0" marL="0">
              <a:buNone/>
            </a:pPr>
            <a:r>
              <a:rPr lang="en-US" sz="2300" b="1" dirty="0">
                <a:solidFill>
                  <a:srgbClr val="36A269"/>
                </a:solidFill>
              </a:rPr>
              <a:t>6.10%</a:t>
            </a:r>
            <a:endParaRPr lang="en-US" sz="2300" dirty="0"/>
          </a:p>
        </p:txBody>
      </p:sp>
      <p:sp>
        <p:nvSpPr>
          <p:cNvPr id="10" name="Text 7"/>
          <p:cNvSpPr/>
          <p:nvPr/>
        </p:nvSpPr>
        <p:spPr>
          <a:xfrm>
            <a:off x="960120" y="5120640"/>
            <a:ext cx="265176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tasks routed to decomposition</a:t>
            </a:r>
            <a:endParaRPr lang="en-US" sz="950" dirty="0"/>
          </a:p>
        </p:txBody>
      </p:sp>
      <p:sp>
        <p:nvSpPr>
          <p:cNvPr id="11" name="Shape 8"/>
          <p:cNvSpPr/>
          <p:nvPr/>
        </p:nvSpPr>
        <p:spPr>
          <a:xfrm>
            <a:off x="4800600" y="1325880"/>
            <a:ext cx="2880360" cy="4526280"/>
          </a:xfrm>
          <a:prstGeom prst="roundRect">
            <a:avLst>
              <a:gd name="adj" fmla="val 2540"/>
            </a:avLst>
          </a:prstGeom>
          <a:solidFill>
            <a:srgbClr val="F8FBFF"/>
          </a:solidFill>
          <a:ln w="12700">
            <a:solidFill>
              <a:srgbClr val="D7E5FF"/>
            </a:solidFill>
            <a:prstDash val="solid"/>
          </a:ln>
          <a:effectLst>
            <a:outerShdw sx="100000" sy="100000" kx="0" ky="0" algn="bl" rotWithShape="0" blurRad="15240" dist="50800" dir="2700000">
              <a:srgbClr val="CDD6E2">
                <a:alpha val="16000"/>
              </a:srgbClr>
            </a:outerShdw>
          </a:effectLst>
        </p:spPr>
      </p:sp>
      <p:sp>
        <p:nvSpPr>
          <p:cNvPr id="12" name="Text 9"/>
          <p:cNvSpPr/>
          <p:nvPr/>
        </p:nvSpPr>
        <p:spPr>
          <a:xfrm>
            <a:off x="5074920" y="1645920"/>
            <a:ext cx="1737360" cy="201168"/>
          </a:xfrm>
          <a:prstGeom prst="rect">
            <a:avLst/>
          </a:prstGeom>
          <a:noFill/>
          <a:ln/>
        </p:spPr>
        <p:txBody>
          <a:bodyPr wrap="square" lIns="0" tIns="0" rIns="0" bIns="0" rtlCol="0" anchor="ctr"/>
          <a:lstStyle/>
          <a:p>
            <a:pPr indent="0" marL="0">
              <a:buNone/>
            </a:pPr>
            <a:r>
              <a:rPr lang="en-US" sz="850" b="1" dirty="0">
                <a:solidFill>
                  <a:srgbClr val="6E57D2"/>
                </a:solidFill>
              </a:rPr>
              <a:t>CLASSIFIER QUALITY</a:t>
            </a:r>
            <a:endParaRPr lang="en-US" sz="850" dirty="0"/>
          </a:p>
        </p:txBody>
      </p:sp>
      <p:sp>
        <p:nvSpPr>
          <p:cNvPr id="13" name="Text 10"/>
          <p:cNvSpPr/>
          <p:nvPr/>
        </p:nvSpPr>
        <p:spPr>
          <a:xfrm>
            <a:off x="5074920" y="2148840"/>
            <a:ext cx="1234440" cy="384048"/>
          </a:xfrm>
          <a:prstGeom prst="rect">
            <a:avLst/>
          </a:prstGeom>
          <a:noFill/>
          <a:ln/>
        </p:spPr>
        <p:txBody>
          <a:bodyPr wrap="square" lIns="0" tIns="0" rIns="0" bIns="0" rtlCol="0" anchor="ctr">
            <a:normAutofit/>
          </a:bodyPr>
          <a:lstStyle/>
          <a:p>
            <a:pPr indent="0" marL="0">
              <a:buNone/>
            </a:pPr>
            <a:r>
              <a:rPr lang="en-US" sz="2300" b="1" dirty="0">
                <a:solidFill>
                  <a:srgbClr val="6E57D2"/>
                </a:solidFill>
              </a:rPr>
              <a:t>0.480</a:t>
            </a:r>
            <a:endParaRPr lang="en-US" sz="2300" dirty="0"/>
          </a:p>
        </p:txBody>
      </p:sp>
      <p:sp>
        <p:nvSpPr>
          <p:cNvPr id="14" name="Text 11"/>
          <p:cNvSpPr/>
          <p:nvPr/>
        </p:nvSpPr>
        <p:spPr>
          <a:xfrm>
            <a:off x="5074920" y="2606040"/>
            <a:ext cx="123444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AUROC</a:t>
            </a:r>
            <a:endParaRPr lang="en-US" sz="950" dirty="0"/>
          </a:p>
        </p:txBody>
      </p:sp>
      <p:sp>
        <p:nvSpPr>
          <p:cNvPr id="15" name="Text 12"/>
          <p:cNvSpPr/>
          <p:nvPr/>
        </p:nvSpPr>
        <p:spPr>
          <a:xfrm>
            <a:off x="6355080" y="2148840"/>
            <a:ext cx="1051560" cy="384048"/>
          </a:xfrm>
          <a:prstGeom prst="rect">
            <a:avLst/>
          </a:prstGeom>
          <a:noFill/>
          <a:ln/>
        </p:spPr>
        <p:txBody>
          <a:bodyPr wrap="square" lIns="0" tIns="0" rIns="0" bIns="0" rtlCol="0" anchor="ctr">
            <a:normAutofit/>
          </a:bodyPr>
          <a:lstStyle/>
          <a:p>
            <a:pPr indent="0" marL="0">
              <a:buNone/>
            </a:pPr>
            <a:r>
              <a:rPr lang="en-US" sz="2300" b="1" dirty="0">
                <a:solidFill>
                  <a:srgbClr val="6E57D2"/>
                </a:solidFill>
              </a:rPr>
              <a:t>0.076</a:t>
            </a:r>
            <a:endParaRPr lang="en-US" sz="2300" dirty="0"/>
          </a:p>
        </p:txBody>
      </p:sp>
      <p:sp>
        <p:nvSpPr>
          <p:cNvPr id="16" name="Text 13"/>
          <p:cNvSpPr/>
          <p:nvPr/>
        </p:nvSpPr>
        <p:spPr>
          <a:xfrm>
            <a:off x="6355080" y="2606040"/>
            <a:ext cx="105156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AUPRC</a:t>
            </a:r>
            <a:endParaRPr lang="en-US" sz="950" dirty="0"/>
          </a:p>
        </p:txBody>
      </p:sp>
      <p:sp>
        <p:nvSpPr>
          <p:cNvPr id="17" name="Text 14"/>
          <p:cNvSpPr/>
          <p:nvPr/>
        </p:nvSpPr>
        <p:spPr>
          <a:xfrm>
            <a:off x="5074920" y="3429000"/>
            <a:ext cx="2011680" cy="777240"/>
          </a:xfrm>
          <a:prstGeom prst="rect">
            <a:avLst/>
          </a:prstGeom>
          <a:noFill/>
          <a:ln/>
        </p:spPr>
        <p:txBody>
          <a:bodyPr wrap="square" lIns="254" tIns="254" rIns="254" bIns="254" rtlCol="0" anchor="t">
            <a:normAutofit/>
          </a:bodyPr>
          <a:lstStyle/>
          <a:p>
            <a:pPr indent="0" marL="0">
              <a:buNone/>
            </a:pPr>
            <a:r>
              <a:rPr lang="en-US" sz="1140" dirty="0">
                <a:solidFill>
                  <a:srgbClr val="16202A"/>
                </a:solidFill>
              </a:rPr>
              <a:t>Classification is near chance because the positive class is very small: 10 positive tasks out of 164.</a:t>
            </a:r>
            <a:endParaRPr lang="en-US" sz="1140" dirty="0"/>
          </a:p>
        </p:txBody>
      </p:sp>
      <p:sp>
        <p:nvSpPr>
          <p:cNvPr id="18" name="Shape 15"/>
          <p:cNvSpPr/>
          <p:nvPr/>
        </p:nvSpPr>
        <p:spPr>
          <a:xfrm>
            <a:off x="5074920" y="4983480"/>
            <a:ext cx="1645920" cy="256032"/>
          </a:xfrm>
          <a:prstGeom prst="roundRect">
            <a:avLst>
              <a:gd name="adj" fmla="val 28571"/>
            </a:avLst>
          </a:prstGeom>
          <a:solidFill>
            <a:srgbClr val="E5A11A"/>
          </a:solidFill>
          <a:ln w="12700">
            <a:solidFill>
              <a:srgbClr val="E5A11A"/>
            </a:solidFill>
            <a:prstDash val="solid"/>
          </a:ln>
        </p:spPr>
      </p:sp>
      <p:sp>
        <p:nvSpPr>
          <p:cNvPr id="19" name="Text 16"/>
          <p:cNvSpPr/>
          <p:nvPr/>
        </p:nvSpPr>
        <p:spPr>
          <a:xfrm>
            <a:off x="5074920" y="5024628"/>
            <a:ext cx="1645920" cy="118872"/>
          </a:xfrm>
          <a:prstGeom prst="rect">
            <a:avLst/>
          </a:prstGeom>
          <a:noFill/>
          <a:ln/>
        </p:spPr>
        <p:txBody>
          <a:bodyPr wrap="square" lIns="0" tIns="0" rIns="0" bIns="0" rtlCol="0" anchor="ctr">
            <a:normAutofit/>
          </a:bodyPr>
          <a:lstStyle/>
          <a:p>
            <a:pPr algn="ctr" indent="0" marL="0">
              <a:buNone/>
            </a:pPr>
            <a:r>
              <a:rPr lang="en-US" sz="780" b="1" dirty="0">
                <a:solidFill>
                  <a:srgbClr val="16202A"/>
                </a:solidFill>
              </a:rPr>
              <a:t>Interpret with caution</a:t>
            </a:r>
            <a:endParaRPr lang="en-US" sz="780" dirty="0"/>
          </a:p>
        </p:txBody>
      </p:sp>
      <p:sp>
        <p:nvSpPr>
          <p:cNvPr id="20" name="Shape 17"/>
          <p:cNvSpPr/>
          <p:nvPr/>
        </p:nvSpPr>
        <p:spPr>
          <a:xfrm>
            <a:off x="8001000" y="1325880"/>
            <a:ext cx="3246120" cy="4526280"/>
          </a:xfrm>
          <a:prstGeom prst="roundRect">
            <a:avLst>
              <a:gd name="adj" fmla="val 2254"/>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21" name="Text 18"/>
          <p:cNvSpPr/>
          <p:nvPr/>
        </p:nvSpPr>
        <p:spPr>
          <a:xfrm>
            <a:off x="8275320" y="1645920"/>
            <a:ext cx="1463040" cy="201168"/>
          </a:xfrm>
          <a:prstGeom prst="rect">
            <a:avLst/>
          </a:prstGeom>
          <a:noFill/>
          <a:ln/>
        </p:spPr>
        <p:txBody>
          <a:bodyPr wrap="square" lIns="0" tIns="0" rIns="0" bIns="0" rtlCol="0" anchor="ctr"/>
          <a:lstStyle/>
          <a:p>
            <a:pPr indent="0" marL="0">
              <a:buNone/>
            </a:pPr>
            <a:r>
              <a:rPr lang="en-US" sz="850" b="1" dirty="0">
                <a:solidFill>
                  <a:srgbClr val="36A269"/>
                </a:solidFill>
              </a:rPr>
              <a:t>INTERPRETATION</a:t>
            </a:r>
            <a:endParaRPr lang="en-US" sz="850" dirty="0"/>
          </a:p>
        </p:txBody>
      </p:sp>
      <p:sp>
        <p:nvSpPr>
          <p:cNvPr id="22" name="Text 19"/>
          <p:cNvSpPr/>
          <p:nvPr/>
        </p:nvSpPr>
        <p:spPr>
          <a:xfrm>
            <a:off x="8275320" y="2084832"/>
            <a:ext cx="2514600" cy="2148840"/>
          </a:xfrm>
          <a:prstGeom prst="rect">
            <a:avLst/>
          </a:prstGeom>
          <a:noFill/>
          <a:ln/>
        </p:spPr>
        <p:txBody>
          <a:bodyPr wrap="square" lIns="635" tIns="635" rIns="635" bIns="635" rtlCol="0" anchor="t">
            <a:normAutofit/>
          </a:bodyPr>
          <a:lstStyle/>
          <a:p>
            <a:r>
              <a:rPr lang="en-US" sz="1120" dirty="0">
                <a:solidFill>
                  <a:srgbClr val="16202A"/>
                </a:solidFill>
              </a:rPr>
              <a:t>Decomposition helps a small subset of HumanEval tasks</a:t>
            </a:r>
            <a:endParaRPr lang="en-US" sz="1120" dirty="0"/>
          </a:p>
          <a:p>
            <a:r>
              <a:rPr lang="en-US" sz="1120" dirty="0">
                <a:solidFill>
                  <a:srgbClr val="16202A"/>
                </a:solidFill>
              </a:rPr>
              <a:t>Routing is mainly a cost-control policy</a:t>
            </a:r>
            <a:endParaRPr lang="en-US" sz="1120" dirty="0"/>
          </a:p>
          <a:p>
            <a:r>
              <a:rPr lang="en-US" sz="1120" dirty="0">
                <a:solidFill>
                  <a:srgbClr val="16202A"/>
                </a:solidFill>
              </a:rPr>
              <a:t>Code-size features carry the strongest signal</a:t>
            </a:r>
            <a:endParaRPr lang="en-US" sz="1120" dirty="0"/>
          </a:p>
          <a:p>
            <a:r>
              <a:rPr lang="en-US" sz="1120" dirty="0">
                <a:solidFill>
                  <a:srgbClr val="16202A"/>
                </a:solidFill>
              </a:rPr>
              <a:t>Current structural proxies miss some semantic cues</a:t>
            </a:r>
            <a:endParaRPr lang="en-US" sz="1120" dirty="0"/>
          </a:p>
        </p:txBody>
      </p:sp>
      <p:sp>
        <p:nvSpPr>
          <p:cNvPr id="23" name="Text 20"/>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24" name="Text 21"/>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BCB-HARD STRESS TEST</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The direct baseline mostly fails on harder library/API tasks</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HumanEval decomposition routing</a:t>
            </a:r>
            <a:endParaRPr lang="en-US" sz="850" dirty="0"/>
          </a:p>
        </p:txBody>
      </p:sp>
      <p:sp>
        <p:nvSpPr>
          <p:cNvPr id="6" name="Shape 4"/>
          <p:cNvSpPr/>
          <p:nvPr/>
        </p:nvSpPr>
        <p:spPr>
          <a:xfrm>
            <a:off x="685800" y="1325880"/>
            <a:ext cx="3246120" cy="4526280"/>
          </a:xfrm>
          <a:prstGeom prst="roundRect">
            <a:avLst>
              <a:gd name="adj" fmla="val 2254"/>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Text 5"/>
          <p:cNvSpPr/>
          <p:nvPr/>
        </p:nvSpPr>
        <p:spPr>
          <a:xfrm>
            <a:off x="960120" y="1645920"/>
            <a:ext cx="1600200" cy="201168"/>
          </a:xfrm>
          <a:prstGeom prst="rect">
            <a:avLst/>
          </a:prstGeom>
          <a:noFill/>
          <a:ln/>
        </p:spPr>
        <p:txBody>
          <a:bodyPr wrap="square" lIns="0" tIns="0" rIns="0" bIns="0" rtlCol="0" anchor="ctr"/>
          <a:lstStyle/>
          <a:p>
            <a:pPr indent="0" marL="0">
              <a:buNone/>
            </a:pPr>
            <a:r>
              <a:rPr lang="en-US" sz="850" b="1" dirty="0">
                <a:solidFill>
                  <a:srgbClr val="2F6FED"/>
                </a:solidFill>
              </a:rPr>
              <a:t>OUTCOME COUNTS</a:t>
            </a:r>
            <a:endParaRPr lang="en-US" sz="850" dirty="0"/>
          </a:p>
        </p:txBody>
      </p:sp>
      <p:sp>
        <p:nvSpPr>
          <p:cNvPr id="8" name="Text 6"/>
          <p:cNvSpPr/>
          <p:nvPr/>
        </p:nvSpPr>
        <p:spPr>
          <a:xfrm>
            <a:off x="960120" y="2148840"/>
            <a:ext cx="2057400" cy="384048"/>
          </a:xfrm>
          <a:prstGeom prst="rect">
            <a:avLst/>
          </a:prstGeom>
          <a:noFill/>
          <a:ln/>
        </p:spPr>
        <p:txBody>
          <a:bodyPr wrap="square" lIns="0" tIns="0" rIns="0" bIns="0" rtlCol="0" anchor="ctr">
            <a:normAutofit/>
          </a:bodyPr>
          <a:lstStyle/>
          <a:p>
            <a:pPr indent="0" marL="0">
              <a:buNone/>
            </a:pPr>
            <a:r>
              <a:rPr lang="en-US" sz="2300" b="1" dirty="0">
                <a:solidFill>
                  <a:srgbClr val="D9534F"/>
                </a:solidFill>
              </a:rPr>
              <a:t>110 / 148</a:t>
            </a:r>
            <a:endParaRPr lang="en-US" sz="2300" dirty="0"/>
          </a:p>
        </p:txBody>
      </p:sp>
      <p:sp>
        <p:nvSpPr>
          <p:cNvPr id="9" name="Text 7"/>
          <p:cNvSpPr/>
          <p:nvPr/>
        </p:nvSpPr>
        <p:spPr>
          <a:xfrm>
            <a:off x="960120" y="2606040"/>
            <a:ext cx="205740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baseline failures</a:t>
            </a:r>
            <a:endParaRPr lang="en-US" sz="950" dirty="0"/>
          </a:p>
        </p:txBody>
      </p:sp>
      <p:sp>
        <p:nvSpPr>
          <p:cNvPr id="10" name="Text 8"/>
          <p:cNvSpPr/>
          <p:nvPr/>
        </p:nvSpPr>
        <p:spPr>
          <a:xfrm>
            <a:off x="960120" y="3291840"/>
            <a:ext cx="2423160" cy="384048"/>
          </a:xfrm>
          <a:prstGeom prst="rect">
            <a:avLst/>
          </a:prstGeom>
          <a:noFill/>
          <a:ln/>
        </p:spPr>
        <p:txBody>
          <a:bodyPr wrap="square" lIns="0" tIns="0" rIns="0" bIns="0" rtlCol="0" anchor="ctr">
            <a:normAutofit/>
          </a:bodyPr>
          <a:lstStyle/>
          <a:p>
            <a:pPr indent="0" marL="0">
              <a:buNone/>
            </a:pPr>
            <a:r>
              <a:rPr lang="en-US" sz="2300" b="1" dirty="0">
                <a:solidFill>
                  <a:srgbClr val="36A269"/>
                </a:solidFill>
              </a:rPr>
              <a:t>8</a:t>
            </a:r>
            <a:endParaRPr lang="en-US" sz="2300" dirty="0"/>
          </a:p>
        </p:txBody>
      </p:sp>
      <p:sp>
        <p:nvSpPr>
          <p:cNvPr id="11" name="Text 9"/>
          <p:cNvSpPr/>
          <p:nvPr/>
        </p:nvSpPr>
        <p:spPr>
          <a:xfrm>
            <a:off x="960120" y="3749040"/>
            <a:ext cx="242316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failures fixed by plan-then-code</a:t>
            </a:r>
            <a:endParaRPr lang="en-US" sz="950" dirty="0"/>
          </a:p>
        </p:txBody>
      </p:sp>
      <p:sp>
        <p:nvSpPr>
          <p:cNvPr id="12" name="Text 10"/>
          <p:cNvSpPr/>
          <p:nvPr/>
        </p:nvSpPr>
        <p:spPr>
          <a:xfrm>
            <a:off x="960120" y="4434840"/>
            <a:ext cx="2194560" cy="384048"/>
          </a:xfrm>
          <a:prstGeom prst="rect">
            <a:avLst/>
          </a:prstGeom>
          <a:noFill/>
          <a:ln/>
        </p:spPr>
        <p:txBody>
          <a:bodyPr wrap="square" lIns="0" tIns="0" rIns="0" bIns="0" rtlCol="0" anchor="ctr">
            <a:normAutofit/>
          </a:bodyPr>
          <a:lstStyle/>
          <a:p>
            <a:pPr indent="0" marL="0">
              <a:buNone/>
            </a:pPr>
            <a:r>
              <a:rPr lang="en-US" sz="2300" b="1" dirty="0">
                <a:solidFill>
                  <a:srgbClr val="6E57D2"/>
                </a:solidFill>
              </a:rPr>
              <a:t>102</a:t>
            </a:r>
            <a:endParaRPr lang="en-US" sz="2300" dirty="0"/>
          </a:p>
        </p:txBody>
      </p:sp>
      <p:sp>
        <p:nvSpPr>
          <p:cNvPr id="13" name="Text 11"/>
          <p:cNvSpPr/>
          <p:nvPr/>
        </p:nvSpPr>
        <p:spPr>
          <a:xfrm>
            <a:off x="960120" y="4892040"/>
            <a:ext cx="219456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tasks both strategies fail</a:t>
            </a:r>
            <a:endParaRPr lang="en-US" sz="950" dirty="0"/>
          </a:p>
        </p:txBody>
      </p:sp>
      <p:sp>
        <p:nvSpPr>
          <p:cNvPr id="14" name="Shape 12"/>
          <p:cNvSpPr/>
          <p:nvPr/>
        </p:nvSpPr>
        <p:spPr>
          <a:xfrm>
            <a:off x="4343400" y="1325880"/>
            <a:ext cx="3337560" cy="4526280"/>
          </a:xfrm>
          <a:prstGeom prst="roundRect">
            <a:avLst>
              <a:gd name="adj" fmla="val 2192"/>
            </a:avLst>
          </a:prstGeom>
          <a:solidFill>
            <a:srgbClr val="F8FBFF"/>
          </a:solidFill>
          <a:ln w="12700">
            <a:solidFill>
              <a:srgbClr val="D7E5FF"/>
            </a:solidFill>
            <a:prstDash val="solid"/>
          </a:ln>
          <a:effectLst>
            <a:outerShdw sx="100000" sy="100000" kx="0" ky="0" algn="bl" rotWithShape="0" blurRad="15240" dist="50800" dir="2700000">
              <a:srgbClr val="CDD6E2">
                <a:alpha val="16000"/>
              </a:srgbClr>
            </a:outerShdw>
          </a:effectLst>
        </p:spPr>
      </p:sp>
      <p:sp>
        <p:nvSpPr>
          <p:cNvPr id="15" name="Text 13"/>
          <p:cNvSpPr/>
          <p:nvPr/>
        </p:nvSpPr>
        <p:spPr>
          <a:xfrm>
            <a:off x="4617720" y="1645920"/>
            <a:ext cx="1920240" cy="201168"/>
          </a:xfrm>
          <a:prstGeom prst="rect">
            <a:avLst/>
          </a:prstGeom>
          <a:noFill/>
          <a:ln/>
        </p:spPr>
        <p:txBody>
          <a:bodyPr wrap="square" lIns="0" tIns="0" rIns="0" bIns="0" rtlCol="0" anchor="ctr"/>
          <a:lstStyle/>
          <a:p>
            <a:pPr indent="0" marL="0">
              <a:buNone/>
            </a:pPr>
            <a:r>
              <a:rPr lang="en-US" sz="850" b="1" dirty="0">
                <a:solidFill>
                  <a:srgbClr val="18A7B5"/>
                </a:solidFill>
              </a:rPr>
              <a:t>WHERE BASELINE FAILS</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617720" y="2057400"/>
          <a:ext cx="2697480" cy="2514600"/>
        </p:xfrm>
        <a:graphic>
          <a:graphicData uri="http://schemas.openxmlformats.org/drawingml/2006/table">
            <a:tbl>
              <a:tblPr/>
              <a:tblGrid>
                <a:gridCol w="1348740"/>
                <a:gridCol w="1348740"/>
              </a:tblGrid>
              <a:tr h="502920">
                <a:tc>
                  <a:txBody>
                    <a:bodyPr/>
                    <a:lstStyle/>
                    <a:p>
                      <a:pPr indent="0" marL="0">
                        <a:buNone/>
                      </a:pPr>
                      <a:r>
                        <a:rPr lang="en-US" sz="950" b="1" dirty="0">
                          <a:solidFill>
                            <a:srgbClr val="FFFFFF"/>
                          </a:solidFill>
                        </a:rPr>
                        <a:t>Pattern</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c>
                  <a:txBody>
                    <a:bodyPr/>
                    <a:lstStyle/>
                    <a:p>
                      <a:pPr indent="0" marL="0">
                        <a:buNone/>
                      </a:pPr>
                      <a:r>
                        <a:rPr lang="en-US" sz="950" b="1" dirty="0">
                          <a:solidFill>
                            <a:srgbClr val="FFFFFF"/>
                          </a:solidFill>
                        </a:rPr>
                        <a:t>Fails</a:t>
                      </a:r>
                      <a:endParaRPr lang="en-US" sz="95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000000"/>
                    </a:solidFill>
                  </a:tcPr>
                </a:tc>
              </a:tr>
              <a:tr h="502920">
                <a:tc>
                  <a:txBody>
                    <a:bodyPr/>
                    <a:lstStyle/>
                    <a:p>
                      <a:pPr indent="0" marL="0">
                        <a:buNone/>
                      </a:pPr>
                      <a:r>
                        <a:rPr lang="en-US" sz="1000" dirty="0">
                          <a:solidFill>
                            <a:srgbClr val="16202A"/>
                          </a:solidFill>
                        </a:rPr>
                        <a:t>Plotting / visualization</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41</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6202A"/>
                          </a:solidFill>
                        </a:rPr>
                        <a:t>Data wrangling / tables</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33</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6202A"/>
                          </a:solidFill>
                        </a:rPr>
                        <a:t>General library/API use</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13</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6202A"/>
                          </a:solidFill>
                        </a:rPr>
                        <a:t>Web / file I/O</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00" dirty="0">
                          <a:solidFill>
                            <a:srgbClr val="16202A"/>
                          </a:solidFill>
                        </a:rPr>
                        <a:t>12</a:t>
                      </a:r>
                      <a:endParaRPr lang="en-US" sz="1000" dirty="0"/>
                    </a:p>
                  </a:txBody>
                  <a:tcPr marL="54864" marR="54864" marT="54864" marB="54864" anchor="mid">
                    <a:lnL w="8890" cap="flat" cmpd="sng" algn="ctr">
                      <a:solidFill>
                        <a:srgbClr val="D6DEE8"/>
                      </a:solidFill>
                      <a:prstDash val="solid"/>
                      <a:round/>
                      <a:headEnd type="none" w="med" len="med"/>
                      <a:tailEnd type="none" w="med" len="med"/>
                    </a:lnL>
                    <a:lnR w="8890" cap="flat" cmpd="sng" algn="ctr">
                      <a:solidFill>
                        <a:srgbClr val="D6DEE8"/>
                      </a:solidFill>
                      <a:prstDash val="solid"/>
                      <a:round/>
                      <a:headEnd type="none" w="med" len="med"/>
                      <a:tailEnd type="none" w="med" len="med"/>
                    </a:lnR>
                    <a:lnT w="8890" cap="flat" cmpd="sng" algn="ctr">
                      <a:solidFill>
                        <a:srgbClr val="D6DEE8"/>
                      </a:solidFill>
                      <a:prstDash val="solid"/>
                      <a:round/>
                      <a:headEnd type="none" w="med" len="med"/>
                      <a:tailEnd type="none" w="med" len="med"/>
                    </a:lnT>
                    <a:lnB w="8890" cap="flat" cmpd="sng" algn="ctr">
                      <a:solidFill>
                        <a:srgbClr val="D6DEE8"/>
                      </a:solidFill>
                      <a:prstDash val="solid"/>
                      <a:round/>
                      <a:headEnd type="none" w="med" len="med"/>
                      <a:tailEnd type="none" w="med" len="med"/>
                    </a:lnB>
                    <a:solidFill>
                      <a:srgbClr val="FFFFFF"/>
                    </a:solidFill>
                  </a:tcPr>
                </a:tc>
              </a:tr>
            </a:tbl>
          </a:graphicData>
        </a:graphic>
      </p:graphicFrame>
      <p:sp>
        <p:nvSpPr>
          <p:cNvPr id="17" name="Shape 14"/>
          <p:cNvSpPr/>
          <p:nvPr/>
        </p:nvSpPr>
        <p:spPr>
          <a:xfrm>
            <a:off x="8092440" y="1325880"/>
            <a:ext cx="3154680" cy="4526280"/>
          </a:xfrm>
          <a:prstGeom prst="roundRect">
            <a:avLst>
              <a:gd name="adj" fmla="val 2319"/>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8" name="Text 15"/>
          <p:cNvSpPr/>
          <p:nvPr/>
        </p:nvSpPr>
        <p:spPr>
          <a:xfrm>
            <a:off x="8366760" y="1645920"/>
            <a:ext cx="1417320" cy="201168"/>
          </a:xfrm>
          <a:prstGeom prst="rect">
            <a:avLst/>
          </a:prstGeom>
          <a:noFill/>
          <a:ln/>
        </p:spPr>
        <p:txBody>
          <a:bodyPr wrap="square" lIns="0" tIns="0" rIns="0" bIns="0" rtlCol="0" anchor="ctr"/>
          <a:lstStyle/>
          <a:p>
            <a:pPr indent="0" marL="0">
              <a:buNone/>
            </a:pPr>
            <a:r>
              <a:rPr lang="en-US" sz="850" b="1" dirty="0">
                <a:solidFill>
                  <a:srgbClr val="36A269"/>
                </a:solidFill>
              </a:rPr>
              <a:t>INTERPRETATION</a:t>
            </a:r>
            <a:endParaRPr lang="en-US" sz="850" dirty="0"/>
          </a:p>
        </p:txBody>
      </p:sp>
      <p:sp>
        <p:nvSpPr>
          <p:cNvPr id="19" name="Text 16"/>
          <p:cNvSpPr/>
          <p:nvPr/>
        </p:nvSpPr>
        <p:spPr>
          <a:xfrm>
            <a:off x="8366760" y="2084832"/>
            <a:ext cx="2423160" cy="2423160"/>
          </a:xfrm>
          <a:prstGeom prst="rect">
            <a:avLst/>
          </a:prstGeom>
          <a:noFill/>
          <a:ln/>
        </p:spPr>
        <p:txBody>
          <a:bodyPr wrap="square" lIns="635" tIns="635" rIns="635" bIns="635" rtlCol="0" anchor="t">
            <a:normAutofit/>
          </a:bodyPr>
          <a:lstStyle/>
          <a:p>
            <a:r>
              <a:rPr lang="en-US" sz="1080" dirty="0">
                <a:solidFill>
                  <a:srgbClr val="16202A"/>
                </a:solidFill>
              </a:rPr>
              <a:t>BCB-Hard is not just longer; it stresses exact library behavior, hidden tests, files, web I/O, and plotting APIs</a:t>
            </a:r>
            <a:endParaRPr lang="en-US" sz="1080" dirty="0"/>
          </a:p>
          <a:p>
            <a:r>
              <a:rPr lang="en-US" sz="1080" dirty="0">
                <a:solidFill>
                  <a:srgbClr val="16202A"/>
                </a:solidFill>
              </a:rPr>
              <a:t>Most failures are hidden mismatches rather than syntax errors</a:t>
            </a:r>
            <a:endParaRPr lang="en-US" sz="1080" dirty="0"/>
          </a:p>
          <a:p>
            <a:r>
              <a:rPr lang="en-US" sz="1080" dirty="0">
                <a:solidFill>
                  <a:srgbClr val="16202A"/>
                </a:solidFill>
              </a:rPr>
              <a:t>Plan-then-code does not solve the hard benchmark; it slightly lowers overall pass rate</a:t>
            </a:r>
            <a:endParaRPr lang="en-US" sz="1080" dirty="0"/>
          </a:p>
        </p:txBody>
      </p:sp>
      <p:sp>
        <p:nvSpPr>
          <p:cNvPr id="20" name="Shape 17"/>
          <p:cNvSpPr/>
          <p:nvPr/>
        </p:nvSpPr>
        <p:spPr>
          <a:xfrm>
            <a:off x="8366760" y="4983480"/>
            <a:ext cx="1325880" cy="256032"/>
          </a:xfrm>
          <a:prstGeom prst="roundRect">
            <a:avLst>
              <a:gd name="adj" fmla="val 28571"/>
            </a:avLst>
          </a:prstGeom>
          <a:solidFill>
            <a:srgbClr val="2F6FED"/>
          </a:solidFill>
          <a:ln w="12700">
            <a:solidFill>
              <a:srgbClr val="2F6FED"/>
            </a:solidFill>
            <a:prstDash val="solid"/>
          </a:ln>
        </p:spPr>
      </p:sp>
      <p:sp>
        <p:nvSpPr>
          <p:cNvPr id="21" name="Text 18"/>
          <p:cNvSpPr/>
          <p:nvPr/>
        </p:nvSpPr>
        <p:spPr>
          <a:xfrm>
            <a:off x="8366760" y="5024628"/>
            <a:ext cx="1325880" cy="1188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Baseline: 25.7%</a:t>
            </a:r>
            <a:endParaRPr lang="en-US" sz="780" dirty="0"/>
          </a:p>
        </p:txBody>
      </p:sp>
      <p:sp>
        <p:nvSpPr>
          <p:cNvPr id="22" name="Shape 19"/>
          <p:cNvSpPr/>
          <p:nvPr/>
        </p:nvSpPr>
        <p:spPr>
          <a:xfrm>
            <a:off x="9829800" y="4983480"/>
            <a:ext cx="1097280" cy="256032"/>
          </a:xfrm>
          <a:prstGeom prst="roundRect">
            <a:avLst>
              <a:gd name="adj" fmla="val 28571"/>
            </a:avLst>
          </a:prstGeom>
          <a:solidFill>
            <a:srgbClr val="E5A11A"/>
          </a:solidFill>
          <a:ln w="12700">
            <a:solidFill>
              <a:srgbClr val="E5A11A"/>
            </a:solidFill>
            <a:prstDash val="solid"/>
          </a:ln>
        </p:spPr>
      </p:sp>
      <p:sp>
        <p:nvSpPr>
          <p:cNvPr id="23" name="Text 20"/>
          <p:cNvSpPr/>
          <p:nvPr/>
        </p:nvSpPr>
        <p:spPr>
          <a:xfrm>
            <a:off x="9829800" y="5024628"/>
            <a:ext cx="1097280" cy="118872"/>
          </a:xfrm>
          <a:prstGeom prst="rect">
            <a:avLst/>
          </a:prstGeom>
          <a:noFill/>
          <a:ln/>
        </p:spPr>
        <p:txBody>
          <a:bodyPr wrap="square" lIns="0" tIns="0" rIns="0" bIns="0" rtlCol="0" anchor="ctr">
            <a:normAutofit/>
          </a:bodyPr>
          <a:lstStyle/>
          <a:p>
            <a:pPr algn="ctr" indent="0" marL="0">
              <a:buNone/>
            </a:pPr>
            <a:r>
              <a:rPr lang="en-US" sz="780" b="1" dirty="0">
                <a:solidFill>
                  <a:srgbClr val="16202A"/>
                </a:solidFill>
              </a:rPr>
              <a:t>Plan: 25.0%</a:t>
            </a:r>
            <a:endParaRPr lang="en-US" sz="780" dirty="0"/>
          </a:p>
        </p:txBody>
      </p:sp>
      <p:sp>
        <p:nvSpPr>
          <p:cNvPr id="24" name="Text 21"/>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25" name="Text 22"/>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WHEN DECOMPOSITION WINS</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It helps when the baseline misses clauses in a compound task</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HumanEval decomposition routing</a:t>
            </a:r>
            <a:endParaRPr lang="en-US" sz="850" dirty="0"/>
          </a:p>
        </p:txBody>
      </p:sp>
      <p:sp>
        <p:nvSpPr>
          <p:cNvPr id="6" name="Shape 4"/>
          <p:cNvSpPr/>
          <p:nvPr/>
        </p:nvSpPr>
        <p:spPr>
          <a:xfrm>
            <a:off x="685800" y="1325880"/>
            <a:ext cx="3337560" cy="4526280"/>
          </a:xfrm>
          <a:prstGeom prst="roundRect">
            <a:avLst>
              <a:gd name="adj" fmla="val 2192"/>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7" name="Text 5"/>
          <p:cNvSpPr/>
          <p:nvPr/>
        </p:nvSpPr>
        <p:spPr>
          <a:xfrm>
            <a:off x="960120" y="1645920"/>
            <a:ext cx="1371600" cy="201168"/>
          </a:xfrm>
          <a:prstGeom prst="rect">
            <a:avLst/>
          </a:prstGeom>
          <a:noFill/>
          <a:ln/>
        </p:spPr>
        <p:txBody>
          <a:bodyPr wrap="square" lIns="0" tIns="0" rIns="0" bIns="0" rtlCol="0" anchor="ctr"/>
          <a:lstStyle/>
          <a:p>
            <a:pPr indent="0" marL="0">
              <a:buNone/>
            </a:pPr>
            <a:r>
              <a:rPr lang="en-US" sz="850" b="1" dirty="0">
                <a:solidFill>
                  <a:srgbClr val="36A269"/>
                </a:solidFill>
              </a:rPr>
              <a:t>OBSERVED FLIPS</a:t>
            </a:r>
            <a:endParaRPr lang="en-US" sz="850" dirty="0"/>
          </a:p>
        </p:txBody>
      </p:sp>
      <p:sp>
        <p:nvSpPr>
          <p:cNvPr id="8" name="Text 6"/>
          <p:cNvSpPr/>
          <p:nvPr/>
        </p:nvSpPr>
        <p:spPr>
          <a:xfrm>
            <a:off x="960120" y="2148840"/>
            <a:ext cx="2468880" cy="384048"/>
          </a:xfrm>
          <a:prstGeom prst="rect">
            <a:avLst/>
          </a:prstGeom>
          <a:noFill/>
          <a:ln/>
        </p:spPr>
        <p:txBody>
          <a:bodyPr wrap="square" lIns="0" tIns="0" rIns="0" bIns="0" rtlCol="0" anchor="ctr">
            <a:normAutofit/>
          </a:bodyPr>
          <a:lstStyle/>
          <a:p>
            <a:pPr indent="0" marL="0">
              <a:buNone/>
            </a:pPr>
            <a:r>
              <a:rPr lang="en-US" sz="2300" b="1" dirty="0">
                <a:solidFill>
                  <a:srgbClr val="36A269"/>
                </a:solidFill>
              </a:rPr>
              <a:t>18</a:t>
            </a:r>
            <a:endParaRPr lang="en-US" sz="2300" dirty="0"/>
          </a:p>
        </p:txBody>
      </p:sp>
      <p:sp>
        <p:nvSpPr>
          <p:cNvPr id="9" name="Text 7"/>
          <p:cNvSpPr/>
          <p:nvPr/>
        </p:nvSpPr>
        <p:spPr>
          <a:xfrm>
            <a:off x="960120" y="2606040"/>
            <a:ext cx="246888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total plan-then-code wins over baseline</a:t>
            </a:r>
            <a:endParaRPr lang="en-US" sz="950" dirty="0"/>
          </a:p>
        </p:txBody>
      </p:sp>
      <p:sp>
        <p:nvSpPr>
          <p:cNvPr id="10" name="Text 8"/>
          <p:cNvSpPr/>
          <p:nvPr/>
        </p:nvSpPr>
        <p:spPr>
          <a:xfrm>
            <a:off x="960120" y="3291840"/>
            <a:ext cx="2468880" cy="384048"/>
          </a:xfrm>
          <a:prstGeom prst="rect">
            <a:avLst/>
          </a:prstGeom>
          <a:noFill/>
          <a:ln/>
        </p:spPr>
        <p:txBody>
          <a:bodyPr wrap="square" lIns="0" tIns="0" rIns="0" bIns="0" rtlCol="0" anchor="ctr">
            <a:normAutofit/>
          </a:bodyPr>
          <a:lstStyle/>
          <a:p>
            <a:pPr indent="0" marL="0">
              <a:buNone/>
            </a:pPr>
            <a:r>
              <a:rPr lang="en-US" sz="2300" b="1" dirty="0">
                <a:solidFill>
                  <a:srgbClr val="2F6FED"/>
                </a:solidFill>
              </a:rPr>
              <a:t>10</a:t>
            </a:r>
            <a:endParaRPr lang="en-US" sz="2300" dirty="0"/>
          </a:p>
        </p:txBody>
      </p:sp>
      <p:sp>
        <p:nvSpPr>
          <p:cNvPr id="11" name="Text 9"/>
          <p:cNvSpPr/>
          <p:nvPr/>
        </p:nvSpPr>
        <p:spPr>
          <a:xfrm>
            <a:off x="960120" y="3749040"/>
            <a:ext cx="246888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HumanEval baseline failures fixed</a:t>
            </a:r>
            <a:endParaRPr lang="en-US" sz="950" dirty="0"/>
          </a:p>
        </p:txBody>
      </p:sp>
      <p:sp>
        <p:nvSpPr>
          <p:cNvPr id="12" name="Text 10"/>
          <p:cNvSpPr/>
          <p:nvPr/>
        </p:nvSpPr>
        <p:spPr>
          <a:xfrm>
            <a:off x="960120" y="4434840"/>
            <a:ext cx="2468880" cy="384048"/>
          </a:xfrm>
          <a:prstGeom prst="rect">
            <a:avLst/>
          </a:prstGeom>
          <a:noFill/>
          <a:ln/>
        </p:spPr>
        <p:txBody>
          <a:bodyPr wrap="square" lIns="0" tIns="0" rIns="0" bIns="0" rtlCol="0" anchor="ctr">
            <a:normAutofit/>
          </a:bodyPr>
          <a:lstStyle/>
          <a:p>
            <a:pPr indent="0" marL="0">
              <a:buNone/>
            </a:pPr>
            <a:r>
              <a:rPr lang="en-US" sz="2300" b="1" dirty="0">
                <a:solidFill>
                  <a:srgbClr val="6E57D2"/>
                </a:solidFill>
              </a:rPr>
              <a:t>8</a:t>
            </a:r>
            <a:endParaRPr lang="en-US" sz="2300" dirty="0"/>
          </a:p>
        </p:txBody>
      </p:sp>
      <p:sp>
        <p:nvSpPr>
          <p:cNvPr id="13" name="Text 11"/>
          <p:cNvSpPr/>
          <p:nvPr/>
        </p:nvSpPr>
        <p:spPr>
          <a:xfrm>
            <a:off x="960120" y="4892040"/>
            <a:ext cx="2468880" cy="274320"/>
          </a:xfrm>
          <a:prstGeom prst="rect">
            <a:avLst/>
          </a:prstGeom>
          <a:noFill/>
          <a:ln/>
        </p:spPr>
        <p:txBody>
          <a:bodyPr wrap="square" lIns="0" tIns="0" rIns="0" bIns="0" rtlCol="0" anchor="ctr">
            <a:normAutofit/>
          </a:bodyPr>
          <a:lstStyle/>
          <a:p>
            <a:pPr indent="0" marL="0">
              <a:buNone/>
            </a:pPr>
            <a:r>
              <a:rPr lang="en-US" sz="950" dirty="0">
                <a:solidFill>
                  <a:srgbClr val="667085"/>
                </a:solidFill>
              </a:rPr>
              <a:t>BCB-Hard baseline failures fixed</a:t>
            </a:r>
            <a:endParaRPr lang="en-US" sz="950" dirty="0"/>
          </a:p>
        </p:txBody>
      </p:sp>
      <p:sp>
        <p:nvSpPr>
          <p:cNvPr id="14" name="Shape 12"/>
          <p:cNvSpPr/>
          <p:nvPr/>
        </p:nvSpPr>
        <p:spPr>
          <a:xfrm>
            <a:off x="4434840" y="1325880"/>
            <a:ext cx="3063240" cy="4526280"/>
          </a:xfrm>
          <a:prstGeom prst="roundRect">
            <a:avLst>
              <a:gd name="adj" fmla="val 2388"/>
            </a:avLst>
          </a:prstGeom>
          <a:solidFill>
            <a:srgbClr val="F8FBFF"/>
          </a:solidFill>
          <a:ln w="12700">
            <a:solidFill>
              <a:srgbClr val="D7E5FF"/>
            </a:solidFill>
            <a:prstDash val="solid"/>
          </a:ln>
          <a:effectLst>
            <a:outerShdw sx="100000" sy="100000" kx="0" ky="0" algn="bl" rotWithShape="0" blurRad="15240" dist="50800" dir="2700000">
              <a:srgbClr val="CDD6E2">
                <a:alpha val="16000"/>
              </a:srgbClr>
            </a:outerShdw>
          </a:effectLst>
        </p:spPr>
      </p:sp>
      <p:sp>
        <p:nvSpPr>
          <p:cNvPr id="15" name="Text 13"/>
          <p:cNvSpPr/>
          <p:nvPr/>
        </p:nvSpPr>
        <p:spPr>
          <a:xfrm>
            <a:off x="4709160" y="1645920"/>
            <a:ext cx="1508760" cy="201168"/>
          </a:xfrm>
          <a:prstGeom prst="rect">
            <a:avLst/>
          </a:prstGeom>
          <a:noFill/>
          <a:ln/>
        </p:spPr>
        <p:txBody>
          <a:bodyPr wrap="square" lIns="0" tIns="0" rIns="0" bIns="0" rtlCol="0" anchor="ctr"/>
          <a:lstStyle/>
          <a:p>
            <a:pPr indent="0" marL="0">
              <a:buNone/>
            </a:pPr>
            <a:r>
              <a:rPr lang="en-US" sz="850" b="1" dirty="0">
                <a:solidFill>
                  <a:srgbClr val="18A7B5"/>
                </a:solidFill>
              </a:rPr>
              <a:t>COMMON PATTERN</a:t>
            </a:r>
            <a:endParaRPr lang="en-US" sz="850" dirty="0"/>
          </a:p>
        </p:txBody>
      </p:sp>
      <p:sp>
        <p:nvSpPr>
          <p:cNvPr id="16" name="Text 14"/>
          <p:cNvSpPr/>
          <p:nvPr/>
        </p:nvSpPr>
        <p:spPr>
          <a:xfrm>
            <a:off x="4709160" y="2057400"/>
            <a:ext cx="2331720" cy="2651760"/>
          </a:xfrm>
          <a:prstGeom prst="rect">
            <a:avLst/>
          </a:prstGeom>
          <a:noFill/>
          <a:ln/>
        </p:spPr>
        <p:txBody>
          <a:bodyPr wrap="square" lIns="635" tIns="635" rIns="635" bIns="635" rtlCol="0" anchor="t">
            <a:normAutofit/>
          </a:bodyPr>
          <a:lstStyle/>
          <a:p>
            <a:r>
              <a:rPr lang="en-US" sz="1060" dirty="0">
                <a:solidFill>
                  <a:srgbClr val="16202A"/>
                </a:solidFill>
              </a:rPr>
              <a:t>Explicit edge cases: fallback values, empty inputs, not-enough-resource branches</a:t>
            </a:r>
            <a:endParaRPr lang="en-US" sz="1060" dirty="0"/>
          </a:p>
          <a:p>
            <a:r>
              <a:rPr lang="en-US" sz="1060" dirty="0">
                <a:solidFill>
                  <a:srgbClr val="16202A"/>
                </a:solidFill>
              </a:rPr>
              <a:t>Composite outputs: return multiple objects or satisfy two constraints at once</a:t>
            </a:r>
            <a:endParaRPr lang="en-US" sz="1060" dirty="0"/>
          </a:p>
          <a:p>
            <a:r>
              <a:rPr lang="en-US" sz="1060" dirty="0">
                <a:solidFill>
                  <a:srgbClr val="16202A"/>
                </a:solidFill>
              </a:rPr>
              <a:t>Multi-step pipelines: validate, transform, compute, then format or plot</a:t>
            </a:r>
            <a:endParaRPr lang="en-US" sz="1060" dirty="0"/>
          </a:p>
          <a:p>
            <a:r>
              <a:rPr lang="en-US" sz="1060" dirty="0">
                <a:solidFill>
                  <a:srgbClr val="16202A"/>
                </a:solidFill>
              </a:rPr>
              <a:t>Clause-heavy docstrings where missing one rule causes hidden-test failure</a:t>
            </a:r>
            <a:endParaRPr lang="en-US" sz="1060" dirty="0"/>
          </a:p>
        </p:txBody>
      </p:sp>
      <p:sp>
        <p:nvSpPr>
          <p:cNvPr id="17" name="Shape 15"/>
          <p:cNvSpPr/>
          <p:nvPr/>
        </p:nvSpPr>
        <p:spPr>
          <a:xfrm>
            <a:off x="7909560" y="1325880"/>
            <a:ext cx="3337560" cy="4526280"/>
          </a:xfrm>
          <a:prstGeom prst="roundRect">
            <a:avLst>
              <a:gd name="adj" fmla="val 2192"/>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8" name="Text 16"/>
          <p:cNvSpPr/>
          <p:nvPr/>
        </p:nvSpPr>
        <p:spPr>
          <a:xfrm>
            <a:off x="8183880" y="1645920"/>
            <a:ext cx="2148840" cy="201168"/>
          </a:xfrm>
          <a:prstGeom prst="rect">
            <a:avLst/>
          </a:prstGeom>
          <a:noFill/>
          <a:ln/>
        </p:spPr>
        <p:txBody>
          <a:bodyPr wrap="square" lIns="0" tIns="0" rIns="0" bIns="0" rtlCol="0" anchor="ctr"/>
          <a:lstStyle/>
          <a:p>
            <a:pPr indent="0" marL="0">
              <a:buNone/>
            </a:pPr>
            <a:r>
              <a:rPr lang="en-US" sz="850" b="1" dirty="0">
                <a:solidFill>
                  <a:srgbClr val="E5A11A"/>
                </a:solidFill>
              </a:rPr>
              <a:t>WHY BETTER THAN BASELINE?</a:t>
            </a:r>
            <a:endParaRPr lang="en-US" sz="850" dirty="0"/>
          </a:p>
        </p:txBody>
      </p:sp>
      <p:sp>
        <p:nvSpPr>
          <p:cNvPr id="19" name="Text 17"/>
          <p:cNvSpPr/>
          <p:nvPr/>
        </p:nvSpPr>
        <p:spPr>
          <a:xfrm>
            <a:off x="8183880" y="2084832"/>
            <a:ext cx="2606040" cy="1097280"/>
          </a:xfrm>
          <a:prstGeom prst="rect">
            <a:avLst/>
          </a:prstGeom>
          <a:noFill/>
          <a:ln/>
        </p:spPr>
        <p:txBody>
          <a:bodyPr wrap="square" lIns="254" tIns="254" rIns="254" bIns="254" rtlCol="0" anchor="t">
            <a:normAutofit/>
          </a:bodyPr>
          <a:lstStyle/>
          <a:p>
            <a:pPr indent="0" marL="0">
              <a:buNone/>
            </a:pPr>
            <a:r>
              <a:rPr lang="en-US" sz="1160" dirty="0">
                <a:solidFill>
                  <a:srgbClr val="16202A"/>
                </a:solidFill>
              </a:rPr>
              <a:t>The direct baseline often jumps straight to code. Plan-then-code first externalizes requirements, making the model more likely to enumerate branches and preserve small but test-critical details.</a:t>
            </a:r>
            <a:endParaRPr lang="en-US" sz="1160" dirty="0"/>
          </a:p>
        </p:txBody>
      </p:sp>
      <p:sp>
        <p:nvSpPr>
          <p:cNvPr id="20" name="Shape 18"/>
          <p:cNvSpPr/>
          <p:nvPr/>
        </p:nvSpPr>
        <p:spPr>
          <a:xfrm>
            <a:off x="8183880" y="3493008"/>
            <a:ext cx="2606040" cy="0"/>
          </a:xfrm>
          <a:prstGeom prst="line">
            <a:avLst/>
          </a:prstGeom>
          <a:noFill/>
          <a:ln w="12700">
            <a:solidFill>
              <a:srgbClr val="D6DEE8"/>
            </a:solidFill>
            <a:prstDash val="solid"/>
          </a:ln>
        </p:spPr>
      </p:sp>
      <p:sp>
        <p:nvSpPr>
          <p:cNvPr id="21" name="Text 19"/>
          <p:cNvSpPr/>
          <p:nvPr/>
        </p:nvSpPr>
        <p:spPr>
          <a:xfrm>
            <a:off x="8183880" y="3822192"/>
            <a:ext cx="2606040" cy="868680"/>
          </a:xfrm>
          <a:prstGeom prst="rect">
            <a:avLst/>
          </a:prstGeom>
          <a:noFill/>
          <a:ln/>
        </p:spPr>
        <p:txBody>
          <a:bodyPr wrap="square" lIns="254" tIns="254" rIns="254" bIns="254" rtlCol="0" anchor="t">
            <a:normAutofit/>
          </a:bodyPr>
          <a:lstStyle/>
          <a:p>
            <a:pPr indent="0" marL="0">
              <a:buNone/>
            </a:pPr>
            <a:r>
              <a:rPr lang="en-US" sz="1160" dirty="0">
                <a:solidFill>
                  <a:srgbClr val="16202A"/>
                </a:solidFill>
              </a:rPr>
              <a:t>But it is not a capability upgrade: on BCB-Hard, most failures are exact library/API mismatches that planning alone does not fix.</a:t>
            </a:r>
            <a:endParaRPr lang="en-US" sz="1160" dirty="0"/>
          </a:p>
        </p:txBody>
      </p:sp>
      <p:sp>
        <p:nvSpPr>
          <p:cNvPr id="22" name="Shape 20"/>
          <p:cNvSpPr/>
          <p:nvPr/>
        </p:nvSpPr>
        <p:spPr>
          <a:xfrm>
            <a:off x="8183880" y="5047488"/>
            <a:ext cx="1828800" cy="256032"/>
          </a:xfrm>
          <a:prstGeom prst="roundRect">
            <a:avLst>
              <a:gd name="adj" fmla="val 28571"/>
            </a:avLst>
          </a:prstGeom>
          <a:solidFill>
            <a:srgbClr val="36A269"/>
          </a:solidFill>
          <a:ln w="12700">
            <a:solidFill>
              <a:srgbClr val="36A269"/>
            </a:solidFill>
            <a:prstDash val="solid"/>
          </a:ln>
        </p:spPr>
      </p:sp>
      <p:sp>
        <p:nvSpPr>
          <p:cNvPr id="23" name="Text 21"/>
          <p:cNvSpPr/>
          <p:nvPr/>
        </p:nvSpPr>
        <p:spPr>
          <a:xfrm>
            <a:off x="8183880" y="5088636"/>
            <a:ext cx="1828800" cy="1188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Best use: selective routing</a:t>
            </a:r>
            <a:endParaRPr lang="en-US" sz="780" dirty="0"/>
          </a:p>
        </p:txBody>
      </p:sp>
      <p:sp>
        <p:nvSpPr>
          <p:cNvPr id="24" name="Text 22"/>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Presented</a:t>
            </a:r>
            <a:endParaRPr lang="en-US" sz="800" dirty="0"/>
          </a:p>
        </p:txBody>
      </p:sp>
      <p:sp>
        <p:nvSpPr>
          <p:cNvPr id="25" name="Text 23"/>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FUTURE WORK</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If we had more time, we would test whether the signal generalizes</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Not presented</a:t>
            </a:r>
            <a:endParaRPr lang="en-US" sz="850" dirty="0"/>
          </a:p>
        </p:txBody>
      </p:sp>
      <p:sp>
        <p:nvSpPr>
          <p:cNvPr id="6" name="Shape 4"/>
          <p:cNvSpPr/>
          <p:nvPr/>
        </p:nvSpPr>
        <p:spPr>
          <a:xfrm>
            <a:off x="685800" y="1234440"/>
            <a:ext cx="1965960" cy="256032"/>
          </a:xfrm>
          <a:prstGeom prst="roundRect">
            <a:avLst>
              <a:gd name="adj" fmla="val 28571"/>
            </a:avLst>
          </a:prstGeom>
          <a:solidFill>
            <a:srgbClr val="E5A11A"/>
          </a:solidFill>
          <a:ln w="12700">
            <a:solidFill>
              <a:srgbClr val="E5A11A"/>
            </a:solidFill>
            <a:prstDash val="solid"/>
          </a:ln>
        </p:spPr>
      </p:sp>
      <p:sp>
        <p:nvSpPr>
          <p:cNvPr id="7" name="Text 5"/>
          <p:cNvSpPr/>
          <p:nvPr/>
        </p:nvSpPr>
        <p:spPr>
          <a:xfrm>
            <a:off x="685800" y="1275588"/>
            <a:ext cx="1965960" cy="118872"/>
          </a:xfrm>
          <a:prstGeom prst="rect">
            <a:avLst/>
          </a:prstGeom>
          <a:noFill/>
          <a:ln/>
        </p:spPr>
        <p:txBody>
          <a:bodyPr wrap="square" lIns="0" tIns="0" rIns="0" bIns="0" rtlCol="0" anchor="ctr">
            <a:normAutofit/>
          </a:bodyPr>
          <a:lstStyle/>
          <a:p>
            <a:pPr algn="ctr" indent="0" marL="0">
              <a:buNone/>
            </a:pPr>
            <a:r>
              <a:rPr lang="en-US" sz="780" b="1" dirty="0">
                <a:solidFill>
                  <a:srgbClr val="16202A"/>
                </a:solidFill>
              </a:rPr>
              <a:t>OPTIONAL - NOT PRESENTED</a:t>
            </a:r>
            <a:endParaRPr lang="en-US" sz="780" dirty="0"/>
          </a:p>
        </p:txBody>
      </p:sp>
      <p:sp>
        <p:nvSpPr>
          <p:cNvPr id="8" name="Shape 6"/>
          <p:cNvSpPr/>
          <p:nvPr/>
        </p:nvSpPr>
        <p:spPr>
          <a:xfrm>
            <a:off x="685800" y="1828800"/>
            <a:ext cx="4800600" cy="1325880"/>
          </a:xfrm>
          <a:prstGeom prst="roundRect">
            <a:avLst>
              <a:gd name="adj" fmla="val 5517"/>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9" name="Text 7"/>
          <p:cNvSpPr/>
          <p:nvPr/>
        </p:nvSpPr>
        <p:spPr>
          <a:xfrm>
            <a:off x="941832" y="2057400"/>
            <a:ext cx="3566160" cy="256032"/>
          </a:xfrm>
          <a:prstGeom prst="rect">
            <a:avLst/>
          </a:prstGeom>
          <a:noFill/>
          <a:ln/>
        </p:spPr>
        <p:txBody>
          <a:bodyPr wrap="square" lIns="0" tIns="0" rIns="0" bIns="0" rtlCol="0" anchor="ctr"/>
          <a:lstStyle/>
          <a:p>
            <a:pPr indent="0" marL="0">
              <a:buNone/>
            </a:pPr>
            <a:r>
              <a:rPr lang="en-US" sz="1400" b="1" dirty="0">
                <a:solidFill>
                  <a:srgbClr val="16202A"/>
                </a:solidFill>
              </a:rPr>
              <a:t>More trials per task</a:t>
            </a:r>
            <a:endParaRPr lang="en-US" sz="1400" dirty="0"/>
          </a:p>
        </p:txBody>
      </p:sp>
      <p:sp>
        <p:nvSpPr>
          <p:cNvPr id="10" name="Text 8"/>
          <p:cNvSpPr/>
          <p:nvPr/>
        </p:nvSpPr>
        <p:spPr>
          <a:xfrm>
            <a:off x="941832" y="2441448"/>
            <a:ext cx="4160520" cy="457200"/>
          </a:xfrm>
          <a:prstGeom prst="rect">
            <a:avLst/>
          </a:prstGeom>
          <a:noFill/>
          <a:ln/>
        </p:spPr>
        <p:txBody>
          <a:bodyPr wrap="square" lIns="254" tIns="254" rIns="254" bIns="254" rtlCol="0" anchor="t">
            <a:normAutofit/>
          </a:bodyPr>
          <a:lstStyle/>
          <a:p>
            <a:pPr indent="0" marL="0">
              <a:buNone/>
            </a:pPr>
            <a:r>
              <a:rPr lang="en-US" sz="1140" dirty="0">
                <a:solidFill>
                  <a:srgbClr val="243B53"/>
                </a:solidFill>
              </a:rPr>
              <a:t>Estimate success rates instead of single pass/fail labels, reducing label noise.</a:t>
            </a:r>
            <a:endParaRPr lang="en-US" sz="1140" dirty="0"/>
          </a:p>
        </p:txBody>
      </p:sp>
      <p:sp>
        <p:nvSpPr>
          <p:cNvPr id="11" name="Shape 9"/>
          <p:cNvSpPr/>
          <p:nvPr/>
        </p:nvSpPr>
        <p:spPr>
          <a:xfrm>
            <a:off x="6126480" y="1828800"/>
            <a:ext cx="4800600" cy="1325880"/>
          </a:xfrm>
          <a:prstGeom prst="roundRect">
            <a:avLst>
              <a:gd name="adj" fmla="val 5517"/>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2" name="Text 10"/>
          <p:cNvSpPr/>
          <p:nvPr/>
        </p:nvSpPr>
        <p:spPr>
          <a:xfrm>
            <a:off x="6382512" y="2057400"/>
            <a:ext cx="3566160" cy="256032"/>
          </a:xfrm>
          <a:prstGeom prst="rect">
            <a:avLst/>
          </a:prstGeom>
          <a:noFill/>
          <a:ln/>
        </p:spPr>
        <p:txBody>
          <a:bodyPr wrap="square" lIns="0" tIns="0" rIns="0" bIns="0" rtlCol="0" anchor="ctr"/>
          <a:lstStyle/>
          <a:p>
            <a:pPr indent="0" marL="0">
              <a:buNone/>
            </a:pPr>
            <a:r>
              <a:rPr lang="en-US" sz="1400" b="1" dirty="0">
                <a:solidFill>
                  <a:srgbClr val="16202A"/>
                </a:solidFill>
              </a:rPr>
              <a:t>Semantic features</a:t>
            </a:r>
            <a:endParaRPr lang="en-US" sz="1400" dirty="0"/>
          </a:p>
        </p:txBody>
      </p:sp>
      <p:sp>
        <p:nvSpPr>
          <p:cNvPr id="13" name="Text 11"/>
          <p:cNvSpPr/>
          <p:nvPr/>
        </p:nvSpPr>
        <p:spPr>
          <a:xfrm>
            <a:off x="6382512" y="2441448"/>
            <a:ext cx="4160520" cy="457200"/>
          </a:xfrm>
          <a:prstGeom prst="rect">
            <a:avLst/>
          </a:prstGeom>
          <a:noFill/>
          <a:ln/>
        </p:spPr>
        <p:txBody>
          <a:bodyPr wrap="square" lIns="254" tIns="254" rIns="254" bIns="254" rtlCol="0" anchor="t">
            <a:normAutofit/>
          </a:bodyPr>
          <a:lstStyle/>
          <a:p>
            <a:pPr indent="0" marL="0">
              <a:buNone/>
            </a:pPr>
            <a:r>
              <a:rPr lang="en-US" sz="1140" dirty="0">
                <a:solidFill>
                  <a:srgbClr val="243B53"/>
                </a:solidFill>
              </a:rPr>
              <a:t>Add embeddings or transformer-derived features while keeping a simpler model for interpretability.</a:t>
            </a:r>
            <a:endParaRPr lang="en-US" sz="1140" dirty="0"/>
          </a:p>
        </p:txBody>
      </p:sp>
      <p:sp>
        <p:nvSpPr>
          <p:cNvPr id="14" name="Shape 12"/>
          <p:cNvSpPr/>
          <p:nvPr/>
        </p:nvSpPr>
        <p:spPr>
          <a:xfrm>
            <a:off x="685800" y="3931920"/>
            <a:ext cx="4800600" cy="1325880"/>
          </a:xfrm>
          <a:prstGeom prst="roundRect">
            <a:avLst>
              <a:gd name="adj" fmla="val 5517"/>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5" name="Text 13"/>
          <p:cNvSpPr/>
          <p:nvPr/>
        </p:nvSpPr>
        <p:spPr>
          <a:xfrm>
            <a:off x="941832" y="4160520"/>
            <a:ext cx="3566160" cy="256032"/>
          </a:xfrm>
          <a:prstGeom prst="rect">
            <a:avLst/>
          </a:prstGeom>
          <a:noFill/>
          <a:ln/>
        </p:spPr>
        <p:txBody>
          <a:bodyPr wrap="square" lIns="0" tIns="0" rIns="0" bIns="0" rtlCol="0" anchor="ctr"/>
          <a:lstStyle/>
          <a:p>
            <a:pPr indent="0" marL="0">
              <a:buNone/>
            </a:pPr>
            <a:r>
              <a:rPr lang="en-US" sz="1400" b="1" dirty="0">
                <a:solidFill>
                  <a:srgbClr val="16202A"/>
                </a:solidFill>
              </a:rPr>
              <a:t>Stronger decomposition</a:t>
            </a:r>
            <a:endParaRPr lang="en-US" sz="1400" dirty="0"/>
          </a:p>
        </p:txBody>
      </p:sp>
      <p:sp>
        <p:nvSpPr>
          <p:cNvPr id="16" name="Text 14"/>
          <p:cNvSpPr/>
          <p:nvPr/>
        </p:nvSpPr>
        <p:spPr>
          <a:xfrm>
            <a:off x="941832" y="4544568"/>
            <a:ext cx="4160520" cy="457200"/>
          </a:xfrm>
          <a:prstGeom prst="rect">
            <a:avLst/>
          </a:prstGeom>
          <a:noFill/>
          <a:ln/>
        </p:spPr>
        <p:txBody>
          <a:bodyPr wrap="square" lIns="254" tIns="254" rIns="254" bIns="254" rtlCol="0" anchor="t">
            <a:normAutofit/>
          </a:bodyPr>
          <a:lstStyle/>
          <a:p>
            <a:pPr indent="0" marL="0">
              <a:buNone/>
            </a:pPr>
            <a:r>
              <a:rPr lang="en-US" sz="1140" dirty="0">
                <a:solidFill>
                  <a:srgbClr val="243B53"/>
                </a:solidFill>
              </a:rPr>
              <a:t>Compare plan-then-code to self-debugging, iterative repair, and explicit subproblem generation.</a:t>
            </a:r>
            <a:endParaRPr lang="en-US" sz="1140" dirty="0"/>
          </a:p>
        </p:txBody>
      </p:sp>
      <p:sp>
        <p:nvSpPr>
          <p:cNvPr id="17" name="Shape 15"/>
          <p:cNvSpPr/>
          <p:nvPr/>
        </p:nvSpPr>
        <p:spPr>
          <a:xfrm>
            <a:off x="6126480" y="3931920"/>
            <a:ext cx="4800600" cy="1325880"/>
          </a:xfrm>
          <a:prstGeom prst="roundRect">
            <a:avLst>
              <a:gd name="adj" fmla="val 5517"/>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8" name="Text 16"/>
          <p:cNvSpPr/>
          <p:nvPr/>
        </p:nvSpPr>
        <p:spPr>
          <a:xfrm>
            <a:off x="6382512" y="4160520"/>
            <a:ext cx="3566160" cy="256032"/>
          </a:xfrm>
          <a:prstGeom prst="rect">
            <a:avLst/>
          </a:prstGeom>
          <a:noFill/>
          <a:ln/>
        </p:spPr>
        <p:txBody>
          <a:bodyPr wrap="square" lIns="0" tIns="0" rIns="0" bIns="0" rtlCol="0" anchor="ctr"/>
          <a:lstStyle/>
          <a:p>
            <a:pPr indent="0" marL="0">
              <a:buNone/>
            </a:pPr>
            <a:r>
              <a:rPr lang="en-US" sz="1400" b="1" dirty="0">
                <a:solidFill>
                  <a:srgbClr val="16202A"/>
                </a:solidFill>
              </a:rPr>
              <a:t>Broader benchmarks</a:t>
            </a:r>
            <a:endParaRPr lang="en-US" sz="1400" dirty="0"/>
          </a:p>
        </p:txBody>
      </p:sp>
      <p:sp>
        <p:nvSpPr>
          <p:cNvPr id="19" name="Text 17"/>
          <p:cNvSpPr/>
          <p:nvPr/>
        </p:nvSpPr>
        <p:spPr>
          <a:xfrm>
            <a:off x="6382512" y="4544568"/>
            <a:ext cx="4160520" cy="457200"/>
          </a:xfrm>
          <a:prstGeom prst="rect">
            <a:avLst/>
          </a:prstGeom>
          <a:noFill/>
          <a:ln/>
        </p:spPr>
        <p:txBody>
          <a:bodyPr wrap="square" lIns="254" tIns="254" rIns="254" bIns="254" rtlCol="0" anchor="t">
            <a:normAutofit/>
          </a:bodyPr>
          <a:lstStyle/>
          <a:p>
            <a:pPr indent="0" marL="0">
              <a:buNone/>
            </a:pPr>
            <a:r>
              <a:rPr lang="en-US" sz="1140" dirty="0">
                <a:solidFill>
                  <a:srgbClr val="243B53"/>
                </a:solidFill>
              </a:rPr>
              <a:t>Extend the BCB-Hard audit into a full cross-benchmark generalization experiment.</a:t>
            </a:r>
            <a:endParaRPr lang="en-US" sz="1140" dirty="0"/>
          </a:p>
        </p:txBody>
      </p:sp>
      <p:sp>
        <p:nvSpPr>
          <p:cNvPr id="20" name="Text 18"/>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Not presented</a:t>
            </a:r>
            <a:endParaRPr lang="en-US" sz="800" dirty="0"/>
          </a:p>
        </p:txBody>
      </p:sp>
      <p:sp>
        <p:nvSpPr>
          <p:cNvPr id="21" name="Text 19"/>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F6FED"/>
          </a:solidFill>
          <a:ln w="12700">
            <a:solidFill>
              <a:srgbClr val="2F6FED"/>
            </a:solidFill>
            <a:prstDash val="solid"/>
          </a:ln>
        </p:spPr>
      </p:sp>
      <p:sp>
        <p:nvSpPr>
          <p:cNvPr id="3" name="Text 1"/>
          <p:cNvSpPr/>
          <p:nvPr/>
        </p:nvSpPr>
        <p:spPr>
          <a:xfrm>
            <a:off x="594360" y="347472"/>
            <a:ext cx="4389120" cy="201168"/>
          </a:xfrm>
          <a:prstGeom prst="rect">
            <a:avLst/>
          </a:prstGeom>
          <a:noFill/>
          <a:ln/>
        </p:spPr>
        <p:txBody>
          <a:bodyPr wrap="square" lIns="0" tIns="0" rIns="0" bIns="0" rtlCol="0" anchor="ctr"/>
          <a:lstStyle/>
          <a:p>
            <a:pPr indent="0" marL="0">
              <a:buNone/>
            </a:pPr>
            <a:r>
              <a:rPr lang="en-US" sz="850" b="1" dirty="0">
                <a:solidFill>
                  <a:srgbClr val="2F6FED"/>
                </a:solidFill>
                <a:latin typeface="Aptos" pitchFamily="34" charset="0"/>
                <a:ea typeface="Aptos" pitchFamily="34" charset="-122"/>
                <a:cs typeface="Aptos" pitchFamily="34" charset="-120"/>
              </a:rPr>
              <a:t>CONTRIBUTIONS</a:t>
            </a:r>
            <a:endParaRPr lang="en-US" sz="850" dirty="0"/>
          </a:p>
        </p:txBody>
      </p:sp>
      <p:sp>
        <p:nvSpPr>
          <p:cNvPr id="4" name="Text 2"/>
          <p:cNvSpPr/>
          <p:nvPr/>
        </p:nvSpPr>
        <p:spPr>
          <a:xfrm>
            <a:off x="594360" y="621792"/>
            <a:ext cx="9052560" cy="475488"/>
          </a:xfrm>
          <a:prstGeom prst="rect">
            <a:avLst/>
          </a:prstGeom>
          <a:noFill/>
          <a:ln/>
        </p:spPr>
        <p:txBody>
          <a:bodyPr wrap="square" lIns="0" tIns="0" rIns="0" bIns="0" rtlCol="0" anchor="ctr">
            <a:normAutofit/>
          </a:bodyPr>
          <a:lstStyle/>
          <a:p>
            <a:pPr indent="0" marL="0">
              <a:buNone/>
            </a:pPr>
            <a:r>
              <a:rPr lang="en-US" sz="2400" b="1" dirty="0">
                <a:solidFill>
                  <a:srgbClr val="16202A"/>
                </a:solidFill>
                <a:latin typeface="Aptos Display" pitchFamily="34" charset="0"/>
                <a:ea typeface="Aptos Display" pitchFamily="34" charset="-122"/>
                <a:cs typeface="Aptos Display" pitchFamily="34" charset="-120"/>
              </a:rPr>
              <a:t>Who did what</a:t>
            </a:r>
            <a:endParaRPr lang="en-US" sz="2400" dirty="0"/>
          </a:p>
        </p:txBody>
      </p:sp>
      <p:sp>
        <p:nvSpPr>
          <p:cNvPr id="5" name="Text 3"/>
          <p:cNvSpPr/>
          <p:nvPr/>
        </p:nvSpPr>
        <p:spPr>
          <a:xfrm>
            <a:off x="9006840" y="384048"/>
            <a:ext cx="2560320" cy="219456"/>
          </a:xfrm>
          <a:prstGeom prst="rect">
            <a:avLst/>
          </a:prstGeom>
          <a:noFill/>
          <a:ln/>
        </p:spPr>
        <p:txBody>
          <a:bodyPr wrap="square" lIns="0" tIns="0" rIns="0" bIns="0" rtlCol="0" anchor="ctr"/>
          <a:lstStyle/>
          <a:p>
            <a:pPr algn="r" indent="0" marL="0">
              <a:buNone/>
            </a:pPr>
            <a:r>
              <a:rPr lang="en-US" sz="850" dirty="0">
                <a:solidFill>
                  <a:srgbClr val="667085"/>
                </a:solidFill>
              </a:rPr>
              <a:t>Required, not presented</a:t>
            </a:r>
            <a:endParaRPr lang="en-US" sz="850" dirty="0"/>
          </a:p>
        </p:txBody>
      </p:sp>
      <p:sp>
        <p:nvSpPr>
          <p:cNvPr id="6" name="Shape 4"/>
          <p:cNvSpPr/>
          <p:nvPr/>
        </p:nvSpPr>
        <p:spPr>
          <a:xfrm>
            <a:off x="685800" y="1234440"/>
            <a:ext cx="1920240" cy="256032"/>
          </a:xfrm>
          <a:prstGeom prst="roundRect">
            <a:avLst>
              <a:gd name="adj" fmla="val 28571"/>
            </a:avLst>
          </a:prstGeom>
          <a:solidFill>
            <a:srgbClr val="2F6FED"/>
          </a:solidFill>
          <a:ln w="12700">
            <a:solidFill>
              <a:srgbClr val="2F6FED"/>
            </a:solidFill>
            <a:prstDash val="solid"/>
          </a:ln>
        </p:spPr>
      </p:sp>
      <p:sp>
        <p:nvSpPr>
          <p:cNvPr id="7" name="Text 5"/>
          <p:cNvSpPr/>
          <p:nvPr/>
        </p:nvSpPr>
        <p:spPr>
          <a:xfrm>
            <a:off x="685800" y="1275588"/>
            <a:ext cx="1920240" cy="1188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REQUIRED - NOT PRESENTED</a:t>
            </a:r>
            <a:endParaRPr lang="en-US" sz="780" dirty="0"/>
          </a:p>
        </p:txBody>
      </p:sp>
      <p:sp>
        <p:nvSpPr>
          <p:cNvPr id="8" name="Shape 6"/>
          <p:cNvSpPr/>
          <p:nvPr/>
        </p:nvSpPr>
        <p:spPr>
          <a:xfrm>
            <a:off x="685800" y="1737360"/>
            <a:ext cx="4983480" cy="4343400"/>
          </a:xfrm>
          <a:prstGeom prst="roundRect">
            <a:avLst>
              <a:gd name="adj" fmla="val 1684"/>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9" name="Text 7"/>
          <p:cNvSpPr/>
          <p:nvPr/>
        </p:nvSpPr>
        <p:spPr>
          <a:xfrm>
            <a:off x="960120" y="2057400"/>
            <a:ext cx="1645920" cy="201168"/>
          </a:xfrm>
          <a:prstGeom prst="rect">
            <a:avLst/>
          </a:prstGeom>
          <a:noFill/>
          <a:ln/>
        </p:spPr>
        <p:txBody>
          <a:bodyPr wrap="square" lIns="0" tIns="0" rIns="0" bIns="0" rtlCol="0" anchor="ctr"/>
          <a:lstStyle/>
          <a:p>
            <a:pPr indent="0" marL="0">
              <a:buNone/>
            </a:pPr>
            <a:r>
              <a:rPr lang="en-US" sz="850" b="1" dirty="0">
                <a:solidFill>
                  <a:srgbClr val="2F6FED"/>
                </a:solidFill>
              </a:rPr>
              <a:t>XIAOYANG CAO</a:t>
            </a:r>
            <a:endParaRPr lang="en-US" sz="850" dirty="0"/>
          </a:p>
        </p:txBody>
      </p:sp>
      <p:sp>
        <p:nvSpPr>
          <p:cNvPr id="10" name="Text 8"/>
          <p:cNvSpPr/>
          <p:nvPr/>
        </p:nvSpPr>
        <p:spPr>
          <a:xfrm>
            <a:off x="960120" y="2514600"/>
            <a:ext cx="3977640" cy="1600200"/>
          </a:xfrm>
          <a:prstGeom prst="rect">
            <a:avLst/>
          </a:prstGeom>
          <a:noFill/>
          <a:ln/>
        </p:spPr>
        <p:txBody>
          <a:bodyPr wrap="square" lIns="635" tIns="635" rIns="635" bIns="635" rtlCol="0" anchor="t">
            <a:normAutofit/>
          </a:bodyPr>
          <a:lstStyle/>
          <a:p>
            <a:r>
              <a:rPr lang="en-US" sz="1200" dirty="0">
                <a:solidFill>
                  <a:srgbClr val="16202A"/>
                </a:solidFill>
              </a:rPr>
              <a:t>Owned SWE-Bench-focused project work</a:t>
            </a:r>
            <a:endParaRPr lang="en-US" sz="1200" dirty="0"/>
          </a:p>
          <a:p>
            <a:r>
              <a:rPr lang="en-US" sz="1200" dirty="0">
                <a:solidFill>
                  <a:srgbClr val="16202A"/>
                </a:solidFill>
              </a:rPr>
              <a:t>Prepared or reviewed SWE-Bench baseline and decomposition setup</a:t>
            </a:r>
            <a:endParaRPr lang="en-US" sz="1200" dirty="0"/>
          </a:p>
          <a:p>
            <a:r>
              <a:rPr lang="en-US" sz="1200" dirty="0">
                <a:solidFill>
                  <a:srgbClr val="16202A"/>
                </a:solidFill>
              </a:rPr>
              <a:t>Contributed cross-benchmark framing and comparison against HumanEval/BCB-Hard</a:t>
            </a:r>
            <a:endParaRPr lang="en-US" sz="1200" dirty="0"/>
          </a:p>
        </p:txBody>
      </p:sp>
      <p:sp>
        <p:nvSpPr>
          <p:cNvPr id="11" name="Text 9"/>
          <p:cNvSpPr/>
          <p:nvPr/>
        </p:nvSpPr>
        <p:spPr>
          <a:xfrm>
            <a:off x="960120" y="5074920"/>
            <a:ext cx="2377440" cy="256032"/>
          </a:xfrm>
          <a:prstGeom prst="rect">
            <a:avLst/>
          </a:prstGeom>
          <a:noFill/>
          <a:ln/>
        </p:spPr>
        <p:txBody>
          <a:bodyPr wrap="square" lIns="254" tIns="254" rIns="254" bIns="254" rtlCol="0" anchor="t">
            <a:normAutofit/>
          </a:bodyPr>
          <a:lstStyle/>
          <a:p>
            <a:pPr indent="0" marL="0">
              <a:buNone/>
            </a:pPr>
            <a:r>
              <a:rPr lang="en-US" sz="1100" dirty="0">
                <a:solidFill>
                  <a:srgbClr val="667085"/>
                </a:solidFill>
              </a:rPr>
              <a:t>Email: [insert email]</a:t>
            </a:r>
            <a:endParaRPr lang="en-US" sz="1100" dirty="0"/>
          </a:p>
        </p:txBody>
      </p:sp>
      <p:sp>
        <p:nvSpPr>
          <p:cNvPr id="12" name="Shape 10"/>
          <p:cNvSpPr/>
          <p:nvPr/>
        </p:nvSpPr>
        <p:spPr>
          <a:xfrm>
            <a:off x="6172200" y="1737360"/>
            <a:ext cx="4983480" cy="4343400"/>
          </a:xfrm>
          <a:prstGeom prst="roundRect">
            <a:avLst>
              <a:gd name="adj" fmla="val 1684"/>
            </a:avLst>
          </a:prstGeom>
          <a:solidFill>
            <a:srgbClr val="FFFFFF"/>
          </a:solidFill>
          <a:ln w="12700">
            <a:solidFill>
              <a:srgbClr val="D6DEE8"/>
            </a:solidFill>
            <a:prstDash val="solid"/>
          </a:ln>
          <a:effectLst>
            <a:outerShdw sx="100000" sy="100000" kx="0" ky="0" algn="bl" rotWithShape="0" blurRad="15240" dist="50800" dir="2700000">
              <a:srgbClr val="CDD6E2">
                <a:alpha val="16000"/>
              </a:srgbClr>
            </a:outerShdw>
          </a:effectLst>
        </p:spPr>
      </p:sp>
      <p:sp>
        <p:nvSpPr>
          <p:cNvPr id="13" name="Text 11"/>
          <p:cNvSpPr/>
          <p:nvPr/>
        </p:nvSpPr>
        <p:spPr>
          <a:xfrm>
            <a:off x="6446520" y="2057400"/>
            <a:ext cx="1645920" cy="201168"/>
          </a:xfrm>
          <a:prstGeom prst="rect">
            <a:avLst/>
          </a:prstGeom>
          <a:noFill/>
          <a:ln/>
        </p:spPr>
        <p:txBody>
          <a:bodyPr wrap="square" lIns="0" tIns="0" rIns="0" bIns="0" rtlCol="0" anchor="ctr"/>
          <a:lstStyle/>
          <a:p>
            <a:pPr indent="0" marL="0">
              <a:buNone/>
            </a:pPr>
            <a:r>
              <a:rPr lang="en-US" sz="850" b="1" dirty="0">
                <a:solidFill>
                  <a:srgbClr val="18A7B5"/>
                </a:solidFill>
              </a:rPr>
              <a:t>SUPRIYA LALL</a:t>
            </a:r>
            <a:endParaRPr lang="en-US" sz="850" dirty="0"/>
          </a:p>
        </p:txBody>
      </p:sp>
      <p:sp>
        <p:nvSpPr>
          <p:cNvPr id="14" name="Text 12"/>
          <p:cNvSpPr/>
          <p:nvPr/>
        </p:nvSpPr>
        <p:spPr>
          <a:xfrm>
            <a:off x="6446520" y="2514600"/>
            <a:ext cx="3977640" cy="1600200"/>
          </a:xfrm>
          <a:prstGeom prst="rect">
            <a:avLst/>
          </a:prstGeom>
          <a:noFill/>
          <a:ln/>
        </p:spPr>
        <p:txBody>
          <a:bodyPr wrap="square" lIns="635" tIns="635" rIns="635" bIns="635" rtlCol="0" anchor="t">
            <a:normAutofit/>
          </a:bodyPr>
          <a:lstStyle/>
          <a:p>
            <a:r>
              <a:rPr lang="en-US" sz="1200" dirty="0">
                <a:solidFill>
                  <a:srgbClr val="16202A"/>
                </a:solidFill>
              </a:rPr>
              <a:t>Owned HumanEval and BCB-Hard analysis</a:t>
            </a:r>
            <a:endParaRPr lang="en-US" sz="1200" dirty="0"/>
          </a:p>
          <a:p>
            <a:r>
              <a:rPr lang="en-US" sz="1200" dirty="0">
                <a:solidFill>
                  <a:srgbClr val="16202A"/>
                </a:solidFill>
              </a:rPr>
              <a:t>Ran local routing/evaluation pipelines from saved baseline and decomposition outputs</a:t>
            </a:r>
            <a:endParaRPr lang="en-US" sz="1200" dirty="0"/>
          </a:p>
          <a:p>
            <a:r>
              <a:rPr lang="en-US" sz="1200" dirty="0">
                <a:solidFill>
                  <a:srgbClr val="16202A"/>
                </a:solidFill>
              </a:rPr>
              <a:t>Analyzed where decomposition beats the baseline and where BCB-Hard baseline failures persist</a:t>
            </a:r>
            <a:endParaRPr lang="en-US" sz="1200" dirty="0"/>
          </a:p>
        </p:txBody>
      </p:sp>
      <p:sp>
        <p:nvSpPr>
          <p:cNvPr id="15" name="Text 13"/>
          <p:cNvSpPr/>
          <p:nvPr/>
        </p:nvSpPr>
        <p:spPr>
          <a:xfrm>
            <a:off x="6446520" y="5074920"/>
            <a:ext cx="2377440" cy="256032"/>
          </a:xfrm>
          <a:prstGeom prst="rect">
            <a:avLst/>
          </a:prstGeom>
          <a:noFill/>
          <a:ln/>
        </p:spPr>
        <p:txBody>
          <a:bodyPr wrap="square" lIns="254" tIns="254" rIns="254" bIns="254" rtlCol="0" anchor="t">
            <a:normAutofit/>
          </a:bodyPr>
          <a:lstStyle/>
          <a:p>
            <a:pPr indent="0" marL="0">
              <a:buNone/>
            </a:pPr>
            <a:r>
              <a:rPr lang="en-US" sz="1100" dirty="0">
                <a:solidFill>
                  <a:srgbClr val="667085"/>
                </a:solidFill>
              </a:rPr>
              <a:t>Email: [insert email]</a:t>
            </a:r>
            <a:endParaRPr lang="en-US" sz="1100" dirty="0"/>
          </a:p>
        </p:txBody>
      </p:sp>
      <p:sp>
        <p:nvSpPr>
          <p:cNvPr id="16" name="Text 14"/>
          <p:cNvSpPr/>
          <p:nvPr/>
        </p:nvSpPr>
        <p:spPr>
          <a:xfrm>
            <a:off x="685800" y="6309360"/>
            <a:ext cx="7772400" cy="201168"/>
          </a:xfrm>
          <a:prstGeom prst="rect">
            <a:avLst/>
          </a:prstGeom>
          <a:noFill/>
          <a:ln/>
        </p:spPr>
        <p:txBody>
          <a:bodyPr wrap="square" lIns="0" tIns="0" rIns="0" bIns="0" rtlCol="0" anchor="ctr"/>
          <a:lstStyle/>
          <a:p>
            <a:pPr indent="0" marL="0">
              <a:buNone/>
            </a:pPr>
            <a:r>
              <a:rPr lang="en-US" sz="850" dirty="0">
                <a:solidFill>
                  <a:srgbClr val="667085"/>
                </a:solidFill>
              </a:rPr>
              <a:t>Edit this slide if the exact division differs. It is intentionally marked not presented.</a:t>
            </a:r>
            <a:endParaRPr lang="en-US" sz="850" dirty="0"/>
          </a:p>
        </p:txBody>
      </p:sp>
      <p:sp>
        <p:nvSpPr>
          <p:cNvPr id="17" name="Text 15"/>
          <p:cNvSpPr/>
          <p:nvPr/>
        </p:nvSpPr>
        <p:spPr>
          <a:xfrm>
            <a:off x="594360" y="6510528"/>
            <a:ext cx="1920240" cy="182880"/>
          </a:xfrm>
          <a:prstGeom prst="rect">
            <a:avLst/>
          </a:prstGeom>
          <a:noFill/>
          <a:ln/>
        </p:spPr>
        <p:txBody>
          <a:bodyPr wrap="square" lIns="0" tIns="0" rIns="0" bIns="0" rtlCol="0" anchor="ctr"/>
          <a:lstStyle/>
          <a:p>
            <a:pPr indent="0" marL="0">
              <a:buNone/>
            </a:pPr>
            <a:r>
              <a:rPr lang="en-US" sz="800" dirty="0">
                <a:solidFill>
                  <a:srgbClr val="667085"/>
                </a:solidFill>
              </a:rPr>
              <a:t>Not presented</a:t>
            </a:r>
            <a:endParaRPr lang="en-US" sz="800" dirty="0"/>
          </a:p>
        </p:txBody>
      </p:sp>
      <p:sp>
        <p:nvSpPr>
          <p:cNvPr id="18" name="Text 16"/>
          <p:cNvSpPr/>
          <p:nvPr/>
        </p:nvSpPr>
        <p:spPr>
          <a:xfrm>
            <a:off x="11292840" y="6510528"/>
            <a:ext cx="320040" cy="182880"/>
          </a:xfrm>
          <a:prstGeom prst="rect">
            <a:avLst/>
          </a:prstGeom>
          <a:noFill/>
          <a:ln/>
        </p:spPr>
        <p:txBody>
          <a:bodyPr wrap="square" lIns="0" tIns="0" rIns="0" bIns="0" rtlCol="0" anchor="ctr"/>
          <a:lstStyle/>
          <a:p>
            <a:pPr algn="r" indent="0" marL="0">
              <a:buNone/>
            </a:pPr>
            <a:r>
              <a:rPr lang="en-US" sz="800" dirty="0">
                <a:solidFill>
                  <a:srgbClr val="667085"/>
                </a:solidFill>
              </a:rPr>
              <a:t>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6.C011 Final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Does Task Decomposition Help?</dc:title>
  <dc:subject>HumanEval and BCB-Hard decomposition routing study</dc:subject>
  <dc:creator>Xiaoyang Cao, Supriya Lall</dc:creator>
  <cp:lastModifiedBy>Xiaoyang Cao, Supriya Lall</cp:lastModifiedBy>
  <cp:revision>1</cp:revision>
  <dcterms:created xsi:type="dcterms:W3CDTF">2026-05-07T01:22:38Z</dcterms:created>
  <dcterms:modified xsi:type="dcterms:W3CDTF">2026-05-07T01:22:38Z</dcterms:modified>
</cp:coreProperties>
</file>